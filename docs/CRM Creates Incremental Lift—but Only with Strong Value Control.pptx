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22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FFDB4-4C9E-C21A-064F-DE2D625A1E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F6B485-1C67-7767-DD0F-65ACCEEE07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41F67-608D-D61A-08AB-2E125919A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EF28-136B-4FA4-A7A2-3313F1662FF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EC6F9-1737-7B65-A7BF-42C04115A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30786-2EE5-53B6-7E0D-60B781C30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11B9B-93EA-4B03-9633-EBD93419A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1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57841-B40B-6F5F-06E9-3CE12B022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AD51D-55A8-E43B-F2EC-D36C35EC8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FA873-BB05-D2D4-923F-DEE8F2B30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EF28-136B-4FA4-A7A2-3313F1662FF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73324-6BC9-2CFD-208E-5108F6992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2B1EC-F694-5516-2405-52FE7A432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11B9B-93EA-4B03-9633-EBD93419A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28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242FC-3E1E-005B-7B1D-5231E5490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2E2B6-8E3A-965B-DDD0-D76B4CC00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B8662-7537-E078-07FD-71B51E5C0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EF28-136B-4FA4-A7A2-3313F1662FF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CC51A-47D6-1733-E242-C6813BC83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BC83D-591C-6B28-F94D-B4AF799FE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11B9B-93EA-4B03-9633-EBD93419A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273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19F43-31F9-8380-9EEE-B793EA10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4FBB8-B0AE-B9C4-1D4F-5B110D43FE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3CD8E6-69F4-A7C7-7AD7-B03B13754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ABF8F-145F-C3AA-2A60-93471BBD0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EF28-136B-4FA4-A7A2-3313F1662FF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C732DC-00EA-935B-E584-F7B88E87D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9CB33-FA11-A88D-1659-A11B1862C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11B9B-93EA-4B03-9633-EBD93419A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707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EDEE8-7BA6-B9E8-0C22-3C8130D83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C9E73-FD30-B8E9-3AA6-A77E98328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8FBA6C-FFFD-7A3F-B8C9-A2CAF9ACE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1BBDD2-8F84-4090-9B10-2418E3FD60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66E126-62B6-D0BE-853E-505D26965F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A4E6CE-8F2B-DD4F-408F-D54896E5C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EF28-136B-4FA4-A7A2-3313F1662FF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4C759C-479A-F896-9274-9C6DCB53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9BECAB-ACC5-313B-6495-CD4FC6EA6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11B9B-93EA-4B03-9633-EBD93419A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43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C8054-8F9B-22A4-AF66-CABB70479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FCE7B5-2D87-AEDF-4C9B-139DEDF60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EF28-136B-4FA4-A7A2-3313F1662FF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F312E6-6575-1EA1-9FF6-A1BBB4AE4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0320CC-FC2E-7B56-BB52-8FC1D24B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11B9B-93EA-4B03-9633-EBD93419A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418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6FB798-E49F-E873-9541-1D25E749E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EF28-136B-4FA4-A7A2-3313F1662FF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A6A0A-CB4F-89A6-8F54-5B618CA5F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63C0B-5A7F-6F0E-969D-A9491829F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11B9B-93EA-4B03-9633-EBD93419A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56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E8E45-273D-A66E-4760-26499D94D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ADAB7-487C-7A98-296B-5FD48DECC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B7238B-07E4-A8EB-690A-0EC38A89C6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0C740-D348-CCF3-5C3C-181A5A4A3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EF28-136B-4FA4-A7A2-3313F1662FF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BA59F5-84E6-C7B5-31F8-74D7210B4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DA646-95F5-0A9A-D40E-642E13FB7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11B9B-93EA-4B03-9633-EBD93419A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897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7DB8A-9E13-BAE4-8DFF-AE8F426B9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EEB51F-C398-3AE0-50DD-3E464E3631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C078B9-A9AB-81C5-DDE0-4B295D410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842C95-4FCF-260E-B7C1-8A109F885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EF28-136B-4FA4-A7A2-3313F1662FF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9D9B38-7639-FADF-291B-B760A2F07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5D9E11-465D-6556-BB90-EC5A64A20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11B9B-93EA-4B03-9633-EBD93419A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57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8F3D9-D1F0-F6E7-4C1C-759C689D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BEF209-06B9-66D6-CE71-1A540A14D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DDF87-6289-E43F-C444-F0290457E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EF28-136B-4FA4-A7A2-3313F1662FF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FDF99-EAC6-763B-A722-0F3E039E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826BC-F3C6-BE9D-5CB1-DB8947484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11B9B-93EA-4B03-9633-EBD93419A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491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F42483-B2DA-85A0-9E9D-4090D63E1B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CDAB6D-DE90-9C77-123B-1FCCBA275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DE75C-2E33-CBD2-C15D-D1F888973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EF28-136B-4FA4-A7A2-3313F1662FF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FF5CB-E127-92A4-77F1-744456697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2F689-70FD-8AEE-4AD1-B53F9091F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11B9B-93EA-4B03-9633-EBD93419A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472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DE559-8BAD-90DD-6892-6BD40089B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DAE0D-87FD-CF28-8256-15989CBAD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A4DC8-E877-011E-2085-401BA3E107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E1EF28-136B-4FA4-A7A2-3313F1662FF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3A8B6-3980-8E67-24BE-35CF5FDD7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041B6-3163-323D-3911-BEB1F17A57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11B9B-93EA-4B03-9633-EBD93419A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249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EC7823C-FDD6-429C-986C-063FDEBF9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CF7FE1C-8BC5-4B0C-A2BC-93AB72C9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0651F5E-0457-4065-ACB2-8B81590C2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050098" flipH="1" flipV="1">
            <a:off x="-160709" y="3977842"/>
            <a:ext cx="7507400" cy="3166385"/>
          </a:xfrm>
          <a:custGeom>
            <a:avLst/>
            <a:gdLst>
              <a:gd name="connsiteX0" fmla="*/ 5497485 w 7507400"/>
              <a:gd name="connsiteY0" fmla="*/ 2912009 h 3166385"/>
              <a:gd name="connsiteX1" fmla="*/ 7034681 w 7507400"/>
              <a:gd name="connsiteY1" fmla="*/ 3151263 h 3166385"/>
              <a:gd name="connsiteX2" fmla="*/ 7137723 w 7507400"/>
              <a:gd name="connsiteY2" fmla="*/ 3166385 h 3166385"/>
              <a:gd name="connsiteX3" fmla="*/ 7507400 w 7507400"/>
              <a:gd name="connsiteY3" fmla="*/ 875071 h 3166385"/>
              <a:gd name="connsiteX4" fmla="*/ 2083578 w 7507400"/>
              <a:gd name="connsiteY4" fmla="*/ 0 h 3166385"/>
              <a:gd name="connsiteX5" fmla="*/ 2023081 w 7507400"/>
              <a:gd name="connsiteY5" fmla="*/ 5468 h 3166385"/>
              <a:gd name="connsiteX6" fmla="*/ 1865374 w 7507400"/>
              <a:gd name="connsiteY6" fmla="*/ 76313 h 3166385"/>
              <a:gd name="connsiteX7" fmla="*/ 1634010 w 7507400"/>
              <a:gd name="connsiteY7" fmla="*/ 119359 h 3166385"/>
              <a:gd name="connsiteX8" fmla="*/ 1388186 w 7507400"/>
              <a:gd name="connsiteY8" fmla="*/ 130121 h 3166385"/>
              <a:gd name="connsiteX9" fmla="*/ 1330344 w 7507400"/>
              <a:gd name="connsiteY9" fmla="*/ 198275 h 3166385"/>
              <a:gd name="connsiteX10" fmla="*/ 1406262 w 7507400"/>
              <a:gd name="connsiteY10" fmla="*/ 270018 h 3166385"/>
              <a:gd name="connsiteX11" fmla="*/ 1521942 w 7507400"/>
              <a:gd name="connsiteY11" fmla="*/ 277191 h 3166385"/>
              <a:gd name="connsiteX12" fmla="*/ 2212420 w 7507400"/>
              <a:gd name="connsiteY12" fmla="*/ 295128 h 3166385"/>
              <a:gd name="connsiteX13" fmla="*/ 0 w 7507400"/>
              <a:gd name="connsiteY13" fmla="*/ 452960 h 3166385"/>
              <a:gd name="connsiteX14" fmla="*/ 300051 w 7507400"/>
              <a:gd name="connsiteY14" fmla="*/ 549813 h 3166385"/>
              <a:gd name="connsiteX15" fmla="*/ 401272 w 7507400"/>
              <a:gd name="connsiteY15" fmla="*/ 815258 h 3166385"/>
              <a:gd name="connsiteX16" fmla="*/ 770008 w 7507400"/>
              <a:gd name="connsiteY16" fmla="*/ 965917 h 3166385"/>
              <a:gd name="connsiteX17" fmla="*/ 1008605 w 7507400"/>
              <a:gd name="connsiteY17" fmla="*/ 1019724 h 3166385"/>
              <a:gd name="connsiteX18" fmla="*/ 1554478 w 7507400"/>
              <a:gd name="connsiteY18" fmla="*/ 1098641 h 3166385"/>
              <a:gd name="connsiteX19" fmla="*/ 1634010 w 7507400"/>
              <a:gd name="connsiteY19" fmla="*/ 1227777 h 3166385"/>
              <a:gd name="connsiteX20" fmla="*/ 1702696 w 7507400"/>
              <a:gd name="connsiteY20" fmla="*/ 1371261 h 3166385"/>
              <a:gd name="connsiteX21" fmla="*/ 1847299 w 7507400"/>
              <a:gd name="connsiteY21" fmla="*/ 1464526 h 3166385"/>
              <a:gd name="connsiteX22" fmla="*/ 723015 w 7507400"/>
              <a:gd name="connsiteY22" fmla="*/ 1450177 h 3166385"/>
              <a:gd name="connsiteX23" fmla="*/ 1991901 w 7507400"/>
              <a:gd name="connsiteY23" fmla="*/ 1751495 h 3166385"/>
              <a:gd name="connsiteX24" fmla="*/ 1879835 w 7507400"/>
              <a:gd name="connsiteY24" fmla="*/ 1869870 h 3166385"/>
              <a:gd name="connsiteX25" fmla="*/ 2573927 w 7507400"/>
              <a:gd name="connsiteY25" fmla="*/ 2031290 h 3166385"/>
              <a:gd name="connsiteX26" fmla="*/ 2201575 w 7507400"/>
              <a:gd name="connsiteY26" fmla="*/ 2049225 h 3166385"/>
              <a:gd name="connsiteX27" fmla="*/ 4367000 w 7507400"/>
              <a:gd name="connsiteY27" fmla="*/ 2723602 h 3166385"/>
              <a:gd name="connsiteX28" fmla="*/ 5497485 w 7507400"/>
              <a:gd name="connsiteY28" fmla="*/ 2912009 h 316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507400" h="3166385">
                <a:moveTo>
                  <a:pt x="5497485" y="2912009"/>
                </a:moveTo>
                <a:cubicBezTo>
                  <a:pt x="6033497" y="2998226"/>
                  <a:pt x="6619155" y="3089592"/>
                  <a:pt x="7034681" y="3151263"/>
                </a:cubicBezTo>
                <a:lnTo>
                  <a:pt x="7137723" y="3166385"/>
                </a:lnTo>
                <a:lnTo>
                  <a:pt x="7507400" y="875071"/>
                </a:lnTo>
                <a:lnTo>
                  <a:pt x="2083578" y="0"/>
                </a:lnTo>
                <a:lnTo>
                  <a:pt x="2023081" y="5468"/>
                </a:lnTo>
                <a:cubicBezTo>
                  <a:pt x="1965692" y="12642"/>
                  <a:pt x="1910562" y="27887"/>
                  <a:pt x="1865374" y="76313"/>
                </a:cubicBezTo>
                <a:cubicBezTo>
                  <a:pt x="1796688" y="151642"/>
                  <a:pt x="1724387" y="162404"/>
                  <a:pt x="1634010" y="119359"/>
                </a:cubicBezTo>
                <a:cubicBezTo>
                  <a:pt x="1554478" y="79900"/>
                  <a:pt x="1467718" y="90662"/>
                  <a:pt x="1388186" y="130121"/>
                </a:cubicBezTo>
                <a:cubicBezTo>
                  <a:pt x="1359266" y="144469"/>
                  <a:pt x="1330344" y="162404"/>
                  <a:pt x="1330344" y="198275"/>
                </a:cubicBezTo>
                <a:cubicBezTo>
                  <a:pt x="1330344" y="248495"/>
                  <a:pt x="1366496" y="262843"/>
                  <a:pt x="1406262" y="270018"/>
                </a:cubicBezTo>
                <a:cubicBezTo>
                  <a:pt x="1442412" y="277191"/>
                  <a:pt x="1485792" y="284366"/>
                  <a:pt x="1521942" y="277191"/>
                </a:cubicBezTo>
                <a:cubicBezTo>
                  <a:pt x="1753307" y="237734"/>
                  <a:pt x="1981057" y="302301"/>
                  <a:pt x="2212420" y="295128"/>
                </a:cubicBezTo>
                <a:cubicBezTo>
                  <a:pt x="1485792" y="449373"/>
                  <a:pt x="751934" y="399154"/>
                  <a:pt x="0" y="452960"/>
                </a:cubicBezTo>
                <a:cubicBezTo>
                  <a:pt x="97608" y="560573"/>
                  <a:pt x="224135" y="470896"/>
                  <a:pt x="300051" y="549813"/>
                </a:cubicBezTo>
                <a:cubicBezTo>
                  <a:pt x="227750" y="714820"/>
                  <a:pt x="256671" y="804497"/>
                  <a:pt x="401272" y="815258"/>
                </a:cubicBezTo>
                <a:cubicBezTo>
                  <a:pt x="542261" y="826019"/>
                  <a:pt x="694093" y="768625"/>
                  <a:pt x="770008" y="965917"/>
                </a:cubicBezTo>
                <a:cubicBezTo>
                  <a:pt x="791699" y="1026898"/>
                  <a:pt x="925458" y="1008963"/>
                  <a:pt x="1008605" y="1019724"/>
                </a:cubicBezTo>
                <a:cubicBezTo>
                  <a:pt x="1189357" y="1044833"/>
                  <a:pt x="1380957" y="1019724"/>
                  <a:pt x="1554478" y="1098641"/>
                </a:cubicBezTo>
                <a:cubicBezTo>
                  <a:pt x="1623165" y="1127337"/>
                  <a:pt x="1670160" y="1148860"/>
                  <a:pt x="1634010" y="1227777"/>
                </a:cubicBezTo>
                <a:cubicBezTo>
                  <a:pt x="1597859" y="1310280"/>
                  <a:pt x="1644855" y="1338976"/>
                  <a:pt x="1702696" y="1371261"/>
                </a:cubicBezTo>
                <a:cubicBezTo>
                  <a:pt x="1746077" y="1396370"/>
                  <a:pt x="1811148" y="1389197"/>
                  <a:pt x="1847299" y="1464526"/>
                </a:cubicBezTo>
                <a:cubicBezTo>
                  <a:pt x="1467717" y="1453764"/>
                  <a:pt x="1098981" y="1392783"/>
                  <a:pt x="723015" y="1450177"/>
                </a:cubicBezTo>
                <a:cubicBezTo>
                  <a:pt x="1135131" y="1593662"/>
                  <a:pt x="1587014" y="1586487"/>
                  <a:pt x="1991901" y="1751495"/>
                </a:cubicBezTo>
                <a:cubicBezTo>
                  <a:pt x="1977441" y="1808889"/>
                  <a:pt x="1883449" y="1783778"/>
                  <a:pt x="1879835" y="1869870"/>
                </a:cubicBezTo>
                <a:cubicBezTo>
                  <a:pt x="2093123" y="1959548"/>
                  <a:pt x="2349794" y="1898566"/>
                  <a:pt x="2573927" y="2031290"/>
                </a:cubicBezTo>
                <a:cubicBezTo>
                  <a:pt x="2443785" y="2092271"/>
                  <a:pt x="2324488" y="1991831"/>
                  <a:pt x="2201575" y="2049225"/>
                </a:cubicBezTo>
                <a:cubicBezTo>
                  <a:pt x="2241342" y="2135316"/>
                  <a:pt x="4041644" y="2666208"/>
                  <a:pt x="4367000" y="2723602"/>
                </a:cubicBezTo>
                <a:cubicBezTo>
                  <a:pt x="4615085" y="2767993"/>
                  <a:pt x="5038048" y="2838109"/>
                  <a:pt x="5497485" y="2912009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5F7F12-A449-1CD5-F2FB-9961075D3B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1094" y="1058780"/>
            <a:ext cx="5602705" cy="3092116"/>
          </a:xfrm>
        </p:spPr>
        <p:txBody>
          <a:bodyPr anchor="ctr">
            <a:normAutofit/>
          </a:bodyPr>
          <a:lstStyle/>
          <a:p>
            <a:pPr algn="l"/>
            <a:r>
              <a:rPr lang="en-GB" sz="5200"/>
              <a:t>CRM Creates Incremental Lift—but Only with Strong Value Control</a:t>
            </a:r>
            <a:endParaRPr lang="en-US" sz="5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59B46E-1830-8588-3613-339360A0C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041616"/>
            <a:ext cx="3781926" cy="1246472"/>
          </a:xfrm>
        </p:spPr>
        <p:txBody>
          <a:bodyPr anchor="ctr">
            <a:normAutofit/>
          </a:bodyPr>
          <a:lstStyle/>
          <a:p>
            <a:pPr algn="l"/>
            <a:endParaRPr lang="sr-Latn-RS"/>
          </a:p>
          <a:p>
            <a:pPr algn="l"/>
            <a:r>
              <a:rPr lang="sr-Latn-RS" dirty="0"/>
              <a:t>Boban Živojinović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857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4FBE2E-E7CB-CBE7-41B2-6FE627160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4038600" cy="5431376"/>
          </a:xfrm>
        </p:spPr>
        <p:txBody>
          <a:bodyPr>
            <a:normAutofit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ACCD6-D8E2-FB39-C720-971AEBF0A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713313"/>
            <a:ext cx="5257801" cy="5431376"/>
          </a:xfrm>
        </p:spPr>
        <p:txBody>
          <a:bodyPr anchor="ctr">
            <a:normAutofit/>
          </a:bodyPr>
          <a:lstStyle/>
          <a:p>
            <a:r>
              <a:rPr lang="en-GB" sz="2000" dirty="0"/>
              <a:t>CRM works, but without value controls it converts activity into fragile revenue.</a:t>
            </a:r>
            <a:endParaRPr lang="sr-Latn-RS" sz="2000" dirty="0"/>
          </a:p>
          <a:p>
            <a:r>
              <a:rPr lang="en-GB" sz="2000" dirty="0"/>
              <a:t>Use Incrementality as a Directional Signal, Not Causal Proof</a:t>
            </a:r>
          </a:p>
          <a:p>
            <a:r>
              <a:rPr lang="en-GB" sz="2000" dirty="0"/>
              <a:t>Revenue Growth Is Coming at the Expense of Basket Value</a:t>
            </a:r>
          </a:p>
          <a:p>
            <a:r>
              <a:rPr lang="en-GB" sz="2000" dirty="0"/>
              <a:t>High-Value Customers Drive Impact; Low-Value Require Tight Discipline</a:t>
            </a:r>
          </a:p>
          <a:p>
            <a:r>
              <a:rPr lang="en-GB" sz="2000" dirty="0"/>
              <a:t>Reactivation Works; Active Customer Journeys Are Underperforming</a:t>
            </a:r>
          </a:p>
          <a:p>
            <a:r>
              <a:rPr lang="en-GB" sz="2000" dirty="0"/>
              <a:t>RFM Performance Is Concentrated and Offset by Negative Segments</a:t>
            </a:r>
          </a:p>
          <a:p>
            <a:r>
              <a:rPr lang="en-GB" sz="2000" dirty="0"/>
              <a:t>Shift CRM from Broad Activation to Governed Value Growth</a:t>
            </a:r>
          </a:p>
          <a:p>
            <a:r>
              <a:rPr lang="en-GB" sz="2000" dirty="0"/>
              <a:t>Treat Results as Directional and Operate in Test-and-Scale Mode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45887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4013F3-5D22-A3C4-BC17-956305D5E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4038600" cy="5431376"/>
          </a:xfrm>
        </p:spPr>
        <p:txBody>
          <a:bodyPr>
            <a:normAutofit/>
          </a:bodyPr>
          <a:lstStyle/>
          <a:p>
            <a:r>
              <a:rPr lang="sr-Latn-RS" dirty="0"/>
              <a:t>1. </a:t>
            </a:r>
            <a:r>
              <a:rPr lang="en-GB" dirty="0"/>
              <a:t>CRM works, but without value controls it converts activity into fragile revenue.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BE6A6-50D3-7B02-11FC-5D6CCD22C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713313"/>
            <a:ext cx="5257801" cy="5431376"/>
          </a:xfrm>
        </p:spPr>
        <p:txBody>
          <a:bodyPr anchor="ctr">
            <a:normAutofit lnSpcReduction="10000"/>
          </a:bodyPr>
          <a:lstStyle/>
          <a:p>
            <a:r>
              <a:rPr lang="en-GB" sz="1900" dirty="0"/>
              <a:t>CRM delivers </a:t>
            </a:r>
            <a:r>
              <a:rPr lang="en-GB" sz="1900" b="1" dirty="0"/>
              <a:t>+59,936 incremental revenue</a:t>
            </a:r>
            <a:r>
              <a:rPr lang="en-GB" sz="1900" dirty="0"/>
              <a:t> and </a:t>
            </a:r>
            <a:r>
              <a:rPr lang="en-GB" sz="1900" b="1" dirty="0"/>
              <a:t>+1,089 incremental transactions</a:t>
            </a:r>
            <a:r>
              <a:rPr lang="en-GB" sz="1900" dirty="0"/>
              <a:t>, confirming positive lift.</a:t>
            </a:r>
            <a:br>
              <a:rPr lang="en-GB" sz="1900" dirty="0"/>
            </a:br>
            <a:endParaRPr lang="sr-Latn-RS" sz="1900" dirty="0"/>
          </a:p>
          <a:p>
            <a:r>
              <a:rPr lang="en-GB" sz="1900" dirty="0"/>
              <a:t>However, </a:t>
            </a:r>
            <a:r>
              <a:rPr lang="en-GB" sz="1900" b="1" dirty="0"/>
              <a:t>ΔAOV = −10.89</a:t>
            </a:r>
            <a:r>
              <a:rPr lang="en-GB" sz="1900" dirty="0"/>
              <a:t>, indicating growth is driven by frequency and activation, not basket size.</a:t>
            </a:r>
          </a:p>
          <a:p>
            <a:r>
              <a:rPr lang="en-GB" sz="1900" b="1" dirty="0"/>
              <a:t>Actions</a:t>
            </a:r>
            <a:r>
              <a:rPr lang="sr-Latn-RS" sz="1900" b="1" dirty="0"/>
              <a:t>:</a:t>
            </a:r>
            <a:endParaRPr lang="en-GB" sz="1900" dirty="0"/>
          </a:p>
          <a:p>
            <a:pPr lvl="1"/>
            <a:r>
              <a:rPr lang="en-GB" sz="1900" b="1" dirty="0"/>
              <a:t>Protect value while scaling lift</a:t>
            </a:r>
            <a:r>
              <a:rPr lang="en-GB" sz="1900" dirty="0"/>
              <a:t>: introduce AOV and margin guardrails alongside revenue KPIs</a:t>
            </a:r>
          </a:p>
          <a:p>
            <a:pPr lvl="1"/>
            <a:r>
              <a:rPr lang="en-GB" sz="1900" b="1" dirty="0"/>
              <a:t>Shift optimization focus</a:t>
            </a:r>
            <a:r>
              <a:rPr lang="en-GB" sz="1900" dirty="0"/>
              <a:t>: balance transaction growth with basket quality, not volume alone</a:t>
            </a:r>
          </a:p>
          <a:p>
            <a:pPr lvl="1"/>
            <a:r>
              <a:rPr lang="en-GB" sz="1900" b="1" dirty="0"/>
              <a:t>Apply segment-level controls</a:t>
            </a:r>
            <a:r>
              <a:rPr lang="en-GB" sz="1900" dirty="0"/>
              <a:t>: cap frequency where AOV decline is concentrated</a:t>
            </a:r>
          </a:p>
          <a:p>
            <a:pPr lvl="1"/>
            <a:r>
              <a:rPr lang="en-GB" sz="1900" b="1" dirty="0"/>
              <a:t>Prioritize value-safe reactivation</a:t>
            </a:r>
            <a:r>
              <a:rPr lang="en-GB" sz="1900" dirty="0"/>
              <a:t>: scale Lost reactivation with offer thresholds and spend limits</a:t>
            </a:r>
          </a:p>
        </p:txBody>
      </p:sp>
    </p:spTree>
    <p:extLst>
      <p:ext uri="{BB962C8B-B14F-4D97-AF65-F5344CB8AC3E}">
        <p14:creationId xmlns:p14="http://schemas.microsoft.com/office/powerpoint/2010/main" val="1139351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A8AAC95-3719-4BCD-B710-4160043D9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3A6D7BA-50E4-42FE-A0E3-FC42B7EC4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2767722"/>
            <a:ext cx="3021543" cy="1532055"/>
          </a:xfrm>
          <a:custGeom>
            <a:avLst/>
            <a:gdLst>
              <a:gd name="connsiteX0" fmla="*/ 3021543 w 3021543"/>
              <a:gd name="connsiteY0" fmla="*/ 0 h 1532055"/>
              <a:gd name="connsiteX1" fmla="*/ 2963800 w 3021543"/>
              <a:gd name="connsiteY1" fmla="*/ 7730 h 1532055"/>
              <a:gd name="connsiteX2" fmla="*/ 2793803 w 3021543"/>
              <a:gd name="connsiteY2" fmla="*/ 25704 h 1532055"/>
              <a:gd name="connsiteX3" fmla="*/ 2414348 w 3021543"/>
              <a:gd name="connsiteY3" fmla="*/ 31695 h 1532055"/>
              <a:gd name="connsiteX4" fmla="*/ 2091558 w 3021543"/>
              <a:gd name="connsiteY4" fmla="*/ 29298 h 1532055"/>
              <a:gd name="connsiteX5" fmla="*/ 1645319 w 3021543"/>
              <a:gd name="connsiteY5" fmla="*/ 30497 h 1532055"/>
              <a:gd name="connsiteX6" fmla="*/ 1243602 w 3021543"/>
              <a:gd name="connsiteY6" fmla="*/ 64048 h 1532055"/>
              <a:gd name="connsiteX7" fmla="*/ 753851 w 3021543"/>
              <a:gd name="connsiteY7" fmla="*/ 61651 h 1532055"/>
              <a:gd name="connsiteX8" fmla="*/ 465465 w 3021543"/>
              <a:gd name="connsiteY8" fmla="*/ 123960 h 1532055"/>
              <a:gd name="connsiteX9" fmla="*/ 546416 w 3021543"/>
              <a:gd name="connsiteY9" fmla="*/ 145529 h 1532055"/>
              <a:gd name="connsiteX10" fmla="*/ 689091 w 3021543"/>
              <a:gd name="connsiteY10" fmla="*/ 192260 h 1532055"/>
              <a:gd name="connsiteX11" fmla="*/ 704269 w 3021543"/>
              <a:gd name="connsiteY11" fmla="*/ 222217 h 1532055"/>
              <a:gd name="connsiteX12" fmla="*/ 683020 w 3021543"/>
              <a:gd name="connsiteY12" fmla="*/ 236595 h 1532055"/>
              <a:gd name="connsiteX13" fmla="*/ 621295 w 3021543"/>
              <a:gd name="connsiteY13" fmla="*/ 264155 h 1532055"/>
              <a:gd name="connsiteX14" fmla="*/ 848968 w 3021543"/>
              <a:gd name="connsiteY14" fmla="*/ 304896 h 1532055"/>
              <a:gd name="connsiteX15" fmla="*/ 768018 w 3021543"/>
              <a:gd name="connsiteY15" fmla="*/ 330059 h 1532055"/>
              <a:gd name="connsiteX16" fmla="*/ 684032 w 3021543"/>
              <a:gd name="connsiteY16" fmla="*/ 348032 h 1532055"/>
              <a:gd name="connsiteX17" fmla="*/ 592962 w 3021543"/>
              <a:gd name="connsiteY17" fmla="*/ 361213 h 1532055"/>
              <a:gd name="connsiteX18" fmla="*/ 509988 w 3021543"/>
              <a:gd name="connsiteY18" fmla="*/ 387575 h 1532055"/>
              <a:gd name="connsiteX19" fmla="*/ 726531 w 3021543"/>
              <a:gd name="connsiteY19" fmla="*/ 398359 h 1532055"/>
              <a:gd name="connsiteX20" fmla="*/ 614212 w 3021543"/>
              <a:gd name="connsiteY20" fmla="*/ 422324 h 1532055"/>
              <a:gd name="connsiteX21" fmla="*/ 522131 w 3021543"/>
              <a:gd name="connsiteY21" fmla="*/ 453478 h 1532055"/>
              <a:gd name="connsiteX22" fmla="*/ 457370 w 3021543"/>
              <a:gd name="connsiteY22" fmla="*/ 467857 h 1532055"/>
              <a:gd name="connsiteX23" fmla="*/ 388562 w 3021543"/>
              <a:gd name="connsiteY23" fmla="*/ 471452 h 1532055"/>
              <a:gd name="connsiteX24" fmla="*/ 372372 w 3021543"/>
              <a:gd name="connsiteY24" fmla="*/ 494218 h 1532055"/>
              <a:gd name="connsiteX25" fmla="*/ 393622 w 3021543"/>
              <a:gd name="connsiteY25" fmla="*/ 518184 h 1532055"/>
              <a:gd name="connsiteX26" fmla="*/ 426002 w 3021543"/>
              <a:gd name="connsiteY26" fmla="*/ 520580 h 1532055"/>
              <a:gd name="connsiteX27" fmla="*/ 619271 w 3021543"/>
              <a:gd name="connsiteY27" fmla="*/ 526571 h 1532055"/>
              <a:gd name="connsiteX28" fmla="*/ 0 w 3021543"/>
              <a:gd name="connsiteY28" fmla="*/ 579294 h 1532055"/>
              <a:gd name="connsiteX29" fmla="*/ 83986 w 3021543"/>
              <a:gd name="connsiteY29" fmla="*/ 611647 h 1532055"/>
              <a:gd name="connsiteX30" fmla="*/ 112319 w 3021543"/>
              <a:gd name="connsiteY30" fmla="*/ 700317 h 1532055"/>
              <a:gd name="connsiteX31" fmla="*/ 215531 w 3021543"/>
              <a:gd name="connsiteY31" fmla="*/ 750643 h 1532055"/>
              <a:gd name="connsiteX32" fmla="*/ 282315 w 3021543"/>
              <a:gd name="connsiteY32" fmla="*/ 768617 h 1532055"/>
              <a:gd name="connsiteX33" fmla="*/ 435109 w 3021543"/>
              <a:gd name="connsiteY33" fmla="*/ 794979 h 1532055"/>
              <a:gd name="connsiteX34" fmla="*/ 457370 w 3021543"/>
              <a:gd name="connsiteY34" fmla="*/ 838116 h 1532055"/>
              <a:gd name="connsiteX35" fmla="*/ 476596 w 3021543"/>
              <a:gd name="connsiteY35" fmla="*/ 886046 h 1532055"/>
              <a:gd name="connsiteX36" fmla="*/ 517071 w 3021543"/>
              <a:gd name="connsiteY36" fmla="*/ 917200 h 1532055"/>
              <a:gd name="connsiteX37" fmla="*/ 202377 w 3021543"/>
              <a:gd name="connsiteY37" fmla="*/ 912407 h 1532055"/>
              <a:gd name="connsiteX38" fmla="*/ 557546 w 3021543"/>
              <a:gd name="connsiteY38" fmla="*/ 1013060 h 1532055"/>
              <a:gd name="connsiteX39" fmla="*/ 526178 w 3021543"/>
              <a:gd name="connsiteY39" fmla="*/ 1052602 h 1532055"/>
              <a:gd name="connsiteX40" fmla="*/ 720459 w 3021543"/>
              <a:gd name="connsiteY40" fmla="*/ 1106523 h 1532055"/>
              <a:gd name="connsiteX41" fmla="*/ 616236 w 3021543"/>
              <a:gd name="connsiteY41" fmla="*/ 1112514 h 1532055"/>
              <a:gd name="connsiteX42" fmla="*/ 1222353 w 3021543"/>
              <a:gd name="connsiteY42" fmla="*/ 1337785 h 1532055"/>
              <a:gd name="connsiteX43" fmla="*/ 2087511 w 3021543"/>
              <a:gd name="connsiteY43" fmla="*/ 1500747 h 1532055"/>
              <a:gd name="connsiteX44" fmla="*/ 2425479 w 3021543"/>
              <a:gd name="connsiteY44" fmla="*/ 1531901 h 1532055"/>
              <a:gd name="connsiteX45" fmla="*/ 2809994 w 3021543"/>
              <a:gd name="connsiteY45" fmla="*/ 1522315 h 1532055"/>
              <a:gd name="connsiteX46" fmla="*/ 2953618 w 3021543"/>
              <a:gd name="connsiteY46" fmla="*/ 1512448 h 1532055"/>
              <a:gd name="connsiteX47" fmla="*/ 3021543 w 3021543"/>
              <a:gd name="connsiteY47" fmla="*/ 1502657 h 1532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532055">
                <a:moveTo>
                  <a:pt x="3021543" y="0"/>
                </a:moveTo>
                <a:lnTo>
                  <a:pt x="2963800" y="7730"/>
                </a:lnTo>
                <a:cubicBezTo>
                  <a:pt x="2907134" y="14919"/>
                  <a:pt x="2850469" y="24506"/>
                  <a:pt x="2793803" y="25704"/>
                </a:cubicBezTo>
                <a:cubicBezTo>
                  <a:pt x="2667318" y="29298"/>
                  <a:pt x="2539821" y="20911"/>
                  <a:pt x="2414348" y="31695"/>
                </a:cubicBezTo>
                <a:cubicBezTo>
                  <a:pt x="2307089" y="41281"/>
                  <a:pt x="2198818" y="30497"/>
                  <a:pt x="2091558" y="29298"/>
                </a:cubicBezTo>
                <a:cubicBezTo>
                  <a:pt x="1942812" y="28100"/>
                  <a:pt x="1793053" y="19713"/>
                  <a:pt x="1645319" y="30497"/>
                </a:cubicBezTo>
                <a:cubicBezTo>
                  <a:pt x="1510738" y="38885"/>
                  <a:pt x="1376158" y="41281"/>
                  <a:pt x="1243602" y="64048"/>
                </a:cubicBezTo>
                <a:cubicBezTo>
                  <a:pt x="1079677" y="76030"/>
                  <a:pt x="916765" y="68841"/>
                  <a:pt x="753851" y="61651"/>
                </a:cubicBezTo>
                <a:cubicBezTo>
                  <a:pt x="653675" y="56858"/>
                  <a:pt x="554511" y="41281"/>
                  <a:pt x="465465" y="123960"/>
                </a:cubicBezTo>
                <a:cubicBezTo>
                  <a:pt x="489751" y="143132"/>
                  <a:pt x="519095" y="139537"/>
                  <a:pt x="546416" y="145529"/>
                </a:cubicBezTo>
                <a:cubicBezTo>
                  <a:pt x="594986" y="157511"/>
                  <a:pt x="643557" y="169493"/>
                  <a:pt x="689091" y="192260"/>
                </a:cubicBezTo>
                <a:cubicBezTo>
                  <a:pt x="699210" y="197053"/>
                  <a:pt x="708317" y="206639"/>
                  <a:pt x="704269" y="222217"/>
                </a:cubicBezTo>
                <a:cubicBezTo>
                  <a:pt x="701234" y="234199"/>
                  <a:pt x="691115" y="234199"/>
                  <a:pt x="683020" y="236595"/>
                </a:cubicBezTo>
                <a:cubicBezTo>
                  <a:pt x="664806" y="243785"/>
                  <a:pt x="642545" y="238992"/>
                  <a:pt x="621295" y="264155"/>
                </a:cubicBezTo>
                <a:cubicBezTo>
                  <a:pt x="702245" y="277336"/>
                  <a:pt x="780160" y="252172"/>
                  <a:pt x="848968" y="304896"/>
                </a:cubicBezTo>
                <a:cubicBezTo>
                  <a:pt x="823671" y="331257"/>
                  <a:pt x="795339" y="325266"/>
                  <a:pt x="768018" y="330059"/>
                </a:cubicBezTo>
                <a:cubicBezTo>
                  <a:pt x="739685" y="334852"/>
                  <a:pt x="712365" y="343240"/>
                  <a:pt x="684032" y="348032"/>
                </a:cubicBezTo>
                <a:cubicBezTo>
                  <a:pt x="653675" y="354023"/>
                  <a:pt x="623319" y="355222"/>
                  <a:pt x="592962" y="361213"/>
                </a:cubicBezTo>
                <a:cubicBezTo>
                  <a:pt x="567666" y="366006"/>
                  <a:pt x="540345" y="357618"/>
                  <a:pt x="509988" y="387575"/>
                </a:cubicBezTo>
                <a:cubicBezTo>
                  <a:pt x="584867" y="409143"/>
                  <a:pt x="652663" y="376790"/>
                  <a:pt x="726531" y="398359"/>
                </a:cubicBezTo>
                <a:cubicBezTo>
                  <a:pt x="683020" y="417531"/>
                  <a:pt x="647604" y="411539"/>
                  <a:pt x="614212" y="422324"/>
                </a:cubicBezTo>
                <a:cubicBezTo>
                  <a:pt x="583855" y="433108"/>
                  <a:pt x="547428" y="421126"/>
                  <a:pt x="522131" y="453478"/>
                </a:cubicBezTo>
                <a:cubicBezTo>
                  <a:pt x="502905" y="478641"/>
                  <a:pt x="482668" y="482236"/>
                  <a:pt x="457370" y="467857"/>
                </a:cubicBezTo>
                <a:cubicBezTo>
                  <a:pt x="435109" y="454676"/>
                  <a:pt x="410824" y="458271"/>
                  <a:pt x="388562" y="471452"/>
                </a:cubicBezTo>
                <a:cubicBezTo>
                  <a:pt x="380468" y="476245"/>
                  <a:pt x="372372" y="482236"/>
                  <a:pt x="372372" y="494218"/>
                </a:cubicBezTo>
                <a:cubicBezTo>
                  <a:pt x="372372" y="510994"/>
                  <a:pt x="382491" y="515787"/>
                  <a:pt x="393622" y="518184"/>
                </a:cubicBezTo>
                <a:cubicBezTo>
                  <a:pt x="403741" y="520580"/>
                  <a:pt x="415883" y="522977"/>
                  <a:pt x="426002" y="520580"/>
                </a:cubicBezTo>
                <a:cubicBezTo>
                  <a:pt x="490762" y="507399"/>
                  <a:pt x="554511" y="528968"/>
                  <a:pt x="619271" y="526571"/>
                </a:cubicBezTo>
                <a:cubicBezTo>
                  <a:pt x="415883" y="578096"/>
                  <a:pt x="210471" y="561321"/>
                  <a:pt x="0" y="579294"/>
                </a:cubicBezTo>
                <a:cubicBezTo>
                  <a:pt x="27321" y="615241"/>
                  <a:pt x="62737" y="585286"/>
                  <a:pt x="83986" y="611647"/>
                </a:cubicBezTo>
                <a:cubicBezTo>
                  <a:pt x="63748" y="666766"/>
                  <a:pt x="71844" y="696722"/>
                  <a:pt x="112319" y="700317"/>
                </a:cubicBezTo>
                <a:cubicBezTo>
                  <a:pt x="151782" y="703912"/>
                  <a:pt x="194281" y="684740"/>
                  <a:pt x="215531" y="750643"/>
                </a:cubicBezTo>
                <a:cubicBezTo>
                  <a:pt x="221602" y="771014"/>
                  <a:pt x="259042" y="765023"/>
                  <a:pt x="282315" y="768617"/>
                </a:cubicBezTo>
                <a:cubicBezTo>
                  <a:pt x="332909" y="777005"/>
                  <a:pt x="386539" y="768617"/>
                  <a:pt x="435109" y="794979"/>
                </a:cubicBezTo>
                <a:cubicBezTo>
                  <a:pt x="454335" y="804565"/>
                  <a:pt x="467489" y="811754"/>
                  <a:pt x="457370" y="838116"/>
                </a:cubicBezTo>
                <a:cubicBezTo>
                  <a:pt x="447252" y="865675"/>
                  <a:pt x="460406" y="875261"/>
                  <a:pt x="476596" y="886046"/>
                </a:cubicBezTo>
                <a:cubicBezTo>
                  <a:pt x="488739" y="894433"/>
                  <a:pt x="506953" y="892037"/>
                  <a:pt x="517071" y="917200"/>
                </a:cubicBezTo>
                <a:cubicBezTo>
                  <a:pt x="410824" y="913605"/>
                  <a:pt x="307612" y="893235"/>
                  <a:pt x="202377" y="912407"/>
                </a:cubicBezTo>
                <a:cubicBezTo>
                  <a:pt x="317731" y="960337"/>
                  <a:pt x="444216" y="957940"/>
                  <a:pt x="557546" y="1013060"/>
                </a:cubicBezTo>
                <a:cubicBezTo>
                  <a:pt x="553499" y="1032232"/>
                  <a:pt x="527190" y="1023844"/>
                  <a:pt x="526178" y="1052602"/>
                </a:cubicBezTo>
                <a:cubicBezTo>
                  <a:pt x="585879" y="1082558"/>
                  <a:pt x="657723" y="1062188"/>
                  <a:pt x="720459" y="1106523"/>
                </a:cubicBezTo>
                <a:cubicBezTo>
                  <a:pt x="684032" y="1126893"/>
                  <a:pt x="650640" y="1093342"/>
                  <a:pt x="616236" y="1112514"/>
                </a:cubicBezTo>
                <a:cubicBezTo>
                  <a:pt x="627367" y="1141273"/>
                  <a:pt x="1131283" y="1318613"/>
                  <a:pt x="1222353" y="1337785"/>
                </a:cubicBezTo>
                <a:cubicBezTo>
                  <a:pt x="1407527" y="1377327"/>
                  <a:pt x="1940788" y="1477980"/>
                  <a:pt x="2087511" y="1500747"/>
                </a:cubicBezTo>
                <a:cubicBezTo>
                  <a:pt x="2200841" y="1517522"/>
                  <a:pt x="2313160" y="1530703"/>
                  <a:pt x="2425479" y="1531901"/>
                </a:cubicBezTo>
                <a:cubicBezTo>
                  <a:pt x="2553988" y="1533099"/>
                  <a:pt x="2681485" y="1527108"/>
                  <a:pt x="2809994" y="1522315"/>
                </a:cubicBezTo>
                <a:cubicBezTo>
                  <a:pt x="2858058" y="1520518"/>
                  <a:pt x="2905933" y="1517372"/>
                  <a:pt x="2953618" y="1512448"/>
                </a:cubicBezTo>
                <a:lnTo>
                  <a:pt x="3021543" y="1502657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854E42-94B8-7D8E-D36C-338C9B59C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199"/>
            <a:ext cx="4191000" cy="5338763"/>
          </a:xfrm>
        </p:spPr>
        <p:txBody>
          <a:bodyPr>
            <a:normAutofit/>
          </a:bodyPr>
          <a:lstStyle/>
          <a:p>
            <a:r>
              <a:rPr lang="sr-Latn-RS" dirty="0"/>
              <a:t>2. </a:t>
            </a:r>
            <a:r>
              <a:rPr lang="en-GB" dirty="0"/>
              <a:t>Use Incrementality as a Directional Signal, Not Causal Proof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6A3A4-4F1C-E3C3-0125-4C0C73E72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2332" y="838199"/>
            <a:ext cx="6051468" cy="5338763"/>
          </a:xfrm>
        </p:spPr>
        <p:txBody>
          <a:bodyPr anchor="ctr">
            <a:normAutofit/>
          </a:bodyPr>
          <a:lstStyle/>
          <a:p>
            <a:r>
              <a:rPr lang="en-GB" sz="2000"/>
              <a:t>Incrementality is estimated via a </a:t>
            </a:r>
            <a:r>
              <a:rPr lang="en-GB" sz="2000" b="1"/>
              <a:t>pre/post baseline</a:t>
            </a:r>
            <a:r>
              <a:rPr lang="en-GB" sz="2000"/>
              <a:t>:</a:t>
            </a:r>
          </a:p>
          <a:p>
            <a:pPr marL="0" indent="0">
              <a:buNone/>
            </a:pPr>
            <a:r>
              <a:rPr lang="sr-Latn-RS" sz="2000"/>
              <a:t>	</a:t>
            </a:r>
            <a:r>
              <a:rPr lang="en-GB" sz="2000"/>
              <a:t>PRE window: </a:t>
            </a:r>
            <a:r>
              <a:rPr lang="en-GB" sz="2000" b="1"/>
              <a:t>28 days</a:t>
            </a:r>
            <a:endParaRPr lang="en-GB" sz="2000"/>
          </a:p>
          <a:p>
            <a:pPr marL="0" indent="0">
              <a:buNone/>
            </a:pPr>
            <a:r>
              <a:rPr lang="sr-Latn-RS" sz="2000"/>
              <a:t>	</a:t>
            </a:r>
            <a:r>
              <a:rPr lang="en-GB" sz="2000"/>
              <a:t>POST window: </a:t>
            </a:r>
            <a:r>
              <a:rPr lang="en-GB" sz="2000" b="1"/>
              <a:t>7 days</a:t>
            </a:r>
            <a:endParaRPr lang="en-GB" sz="2000"/>
          </a:p>
          <a:p>
            <a:r>
              <a:rPr lang="en-GB" sz="2000"/>
              <a:t>Core logic: </a:t>
            </a:r>
            <a:r>
              <a:rPr lang="en-GB" sz="2000" i="1"/>
              <a:t>(POST revenue/day − PRE revenue/day) × 7</a:t>
            </a:r>
            <a:endParaRPr lang="sr-Latn-RS" sz="2000" i="1"/>
          </a:p>
          <a:p>
            <a:pPr marL="0" indent="0">
              <a:buNone/>
            </a:pPr>
            <a:endParaRPr lang="en-GB" sz="2000"/>
          </a:p>
          <a:p>
            <a:r>
              <a:rPr lang="en-GB" sz="2000"/>
              <a:t>Results are suitable for </a:t>
            </a:r>
            <a:r>
              <a:rPr lang="en-GB" sz="2000" b="1"/>
              <a:t>prioritization and testing</a:t>
            </a:r>
            <a:r>
              <a:rPr lang="en-GB" sz="2000"/>
              <a:t>, not causal ROI claims.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287147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5408913-B323-422F-B521-2957A5B7F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A770EBD-5B77-46EC-BF58-EF27ACD6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92" y="0"/>
            <a:ext cx="7299977" cy="6858000"/>
          </a:xfrm>
          <a:custGeom>
            <a:avLst/>
            <a:gdLst>
              <a:gd name="connsiteX0" fmla="*/ 1008599 w 7299977"/>
              <a:gd name="connsiteY0" fmla="*/ 0 h 6858000"/>
              <a:gd name="connsiteX1" fmla="*/ 4420653 w 7299977"/>
              <a:gd name="connsiteY1" fmla="*/ 0 h 6858000"/>
              <a:gd name="connsiteX2" fmla="*/ 5511704 w 7299977"/>
              <a:gd name="connsiteY2" fmla="*/ 0 h 6858000"/>
              <a:gd name="connsiteX3" fmla="*/ 7299977 w 7299977"/>
              <a:gd name="connsiteY3" fmla="*/ 0 h 6858000"/>
              <a:gd name="connsiteX4" fmla="*/ 7299977 w 7299977"/>
              <a:gd name="connsiteY4" fmla="*/ 6858000 h 6858000"/>
              <a:gd name="connsiteX5" fmla="*/ 5511704 w 7299977"/>
              <a:gd name="connsiteY5" fmla="*/ 6858000 h 6858000"/>
              <a:gd name="connsiteX6" fmla="*/ 4420653 w 7299977"/>
              <a:gd name="connsiteY6" fmla="*/ 6858000 h 6858000"/>
              <a:gd name="connsiteX7" fmla="*/ 1592997 w 7299977"/>
              <a:gd name="connsiteY7" fmla="*/ 6858000 h 6858000"/>
              <a:gd name="connsiteX8" fmla="*/ 1232473 w 7299977"/>
              <a:gd name="connsiteY8" fmla="*/ 6658805 h 6858000"/>
              <a:gd name="connsiteX9" fmla="*/ 1075471 w 7299977"/>
              <a:gd name="connsiteY9" fmla="*/ 6431153 h 6858000"/>
              <a:gd name="connsiteX10" fmla="*/ 1020229 w 7299977"/>
              <a:gd name="connsiteY10" fmla="*/ 6367127 h 6858000"/>
              <a:gd name="connsiteX11" fmla="*/ 883579 w 7299977"/>
              <a:gd name="connsiteY11" fmla="*/ 6281757 h 6858000"/>
              <a:gd name="connsiteX12" fmla="*/ 645167 w 7299977"/>
              <a:gd name="connsiteY12" fmla="*/ 6100347 h 6858000"/>
              <a:gd name="connsiteX13" fmla="*/ 732391 w 7299977"/>
              <a:gd name="connsiteY13" fmla="*/ 6057663 h 6858000"/>
              <a:gd name="connsiteX14" fmla="*/ 985339 w 7299977"/>
              <a:gd name="connsiteY14" fmla="*/ 6167932 h 6858000"/>
              <a:gd name="connsiteX15" fmla="*/ 1168509 w 7299977"/>
              <a:gd name="connsiteY15" fmla="*/ 6196388 h 6858000"/>
              <a:gd name="connsiteX16" fmla="*/ 909746 w 7299977"/>
              <a:gd name="connsiteY16" fmla="*/ 6004307 h 6858000"/>
              <a:gd name="connsiteX17" fmla="*/ 659704 w 7299977"/>
              <a:gd name="connsiteY17" fmla="*/ 5755314 h 6858000"/>
              <a:gd name="connsiteX18" fmla="*/ 851597 w 7299977"/>
              <a:gd name="connsiteY18" fmla="*/ 5801555 h 6858000"/>
              <a:gd name="connsiteX19" fmla="*/ 860319 w 7299977"/>
              <a:gd name="connsiteY19" fmla="*/ 5769542 h 6858000"/>
              <a:gd name="connsiteX20" fmla="*/ 691686 w 7299977"/>
              <a:gd name="connsiteY20" fmla="*/ 5474306 h 6858000"/>
              <a:gd name="connsiteX21" fmla="*/ 610278 w 7299977"/>
              <a:gd name="connsiteY21" fmla="*/ 5353367 h 6858000"/>
              <a:gd name="connsiteX22" fmla="*/ 238123 w 7299977"/>
              <a:gd name="connsiteY22" fmla="*/ 4994104 h 6858000"/>
              <a:gd name="connsiteX23" fmla="*/ 592833 w 7299977"/>
              <a:gd name="connsiteY23" fmla="*/ 5154171 h 6858000"/>
              <a:gd name="connsiteX24" fmla="*/ 226494 w 7299977"/>
              <a:gd name="connsiteY24" fmla="*/ 4805580 h 6858000"/>
              <a:gd name="connsiteX25" fmla="*/ 49139 w 7299977"/>
              <a:gd name="connsiteY25" fmla="*/ 4677526 h 6858000"/>
              <a:gd name="connsiteX26" fmla="*/ 5527 w 7299977"/>
              <a:gd name="connsiteY26" fmla="*/ 4602828 h 6858000"/>
              <a:gd name="connsiteX27" fmla="*/ 84029 w 7299977"/>
              <a:gd name="connsiteY27" fmla="*/ 4585042 h 6858000"/>
              <a:gd name="connsiteX28" fmla="*/ 325347 w 7299977"/>
              <a:gd name="connsiteY28" fmla="*/ 4613499 h 6858000"/>
              <a:gd name="connsiteX29" fmla="*/ 25879 w 7299977"/>
              <a:gd name="connsiteY29" fmla="*/ 4378734 h 6858000"/>
              <a:gd name="connsiteX30" fmla="*/ 249753 w 7299977"/>
              <a:gd name="connsiteY30" fmla="*/ 4414305 h 6858000"/>
              <a:gd name="connsiteX31" fmla="*/ 313718 w 7299977"/>
              <a:gd name="connsiteY31" fmla="*/ 4321821 h 6858000"/>
              <a:gd name="connsiteX32" fmla="*/ 418386 w 7299977"/>
              <a:gd name="connsiteY32" fmla="*/ 4172424 h 6858000"/>
              <a:gd name="connsiteX33" fmla="*/ 491072 w 7299977"/>
              <a:gd name="connsiteY33" fmla="*/ 4090612 h 6858000"/>
              <a:gd name="connsiteX34" fmla="*/ 520147 w 7299977"/>
              <a:gd name="connsiteY34" fmla="*/ 3827390 h 6858000"/>
              <a:gd name="connsiteX35" fmla="*/ 459090 w 7299977"/>
              <a:gd name="connsiteY35" fmla="*/ 3539269 h 6858000"/>
              <a:gd name="connsiteX36" fmla="*/ 290458 w 7299977"/>
              <a:gd name="connsiteY36" fmla="*/ 3393429 h 6858000"/>
              <a:gd name="connsiteX37" fmla="*/ 339884 w 7299977"/>
              <a:gd name="connsiteY37" fmla="*/ 3229805 h 6858000"/>
              <a:gd name="connsiteX38" fmla="*/ 697501 w 7299977"/>
              <a:gd name="connsiteY38" fmla="*/ 3329402 h 6858000"/>
              <a:gd name="connsiteX39" fmla="*/ 165437 w 7299977"/>
              <a:gd name="connsiteY39" fmla="*/ 2941684 h 6858000"/>
              <a:gd name="connsiteX40" fmla="*/ 255568 w 7299977"/>
              <a:gd name="connsiteY40" fmla="*/ 2923898 h 6858000"/>
              <a:gd name="connsiteX41" fmla="*/ 578296 w 7299977"/>
              <a:gd name="connsiteY41" fmla="*/ 2703362 h 6858000"/>
              <a:gd name="connsiteX42" fmla="*/ 595740 w 7299977"/>
              <a:gd name="connsiteY42" fmla="*/ 2692689 h 6858000"/>
              <a:gd name="connsiteX43" fmla="*/ 650982 w 7299977"/>
              <a:gd name="connsiteY43" fmla="*/ 2553965 h 6858000"/>
              <a:gd name="connsiteX44" fmla="*/ 825429 w 7299977"/>
              <a:gd name="connsiteY44" fmla="*/ 2532623 h 6858000"/>
              <a:gd name="connsiteX45" fmla="*/ 970802 w 7299977"/>
              <a:gd name="connsiteY45" fmla="*/ 2564636 h 6858000"/>
              <a:gd name="connsiteX46" fmla="*/ 1127805 w 7299977"/>
              <a:gd name="connsiteY46" fmla="*/ 2525509 h 6858000"/>
              <a:gd name="connsiteX47" fmla="*/ 1267362 w 7299977"/>
              <a:gd name="connsiteY47" fmla="*/ 2543294 h 6858000"/>
              <a:gd name="connsiteX48" fmla="*/ 1386568 w 7299977"/>
              <a:gd name="connsiteY48" fmla="*/ 2518395 h 6858000"/>
              <a:gd name="connsiteX49" fmla="*/ 1270270 w 7299977"/>
              <a:gd name="connsiteY49" fmla="*/ 2401012 h 6858000"/>
              <a:gd name="connsiteX50" fmla="*/ 1107453 w 7299977"/>
              <a:gd name="connsiteY50" fmla="*/ 2401012 h 6858000"/>
              <a:gd name="connsiteX51" fmla="*/ 991154 w 7299977"/>
              <a:gd name="connsiteY51" fmla="*/ 2326314 h 6858000"/>
              <a:gd name="connsiteX52" fmla="*/ 880671 w 7299977"/>
              <a:gd name="connsiteY52" fmla="*/ 2191146 h 6858000"/>
              <a:gd name="connsiteX53" fmla="*/ 491072 w 7299977"/>
              <a:gd name="connsiteY53" fmla="*/ 1974165 h 6858000"/>
              <a:gd name="connsiteX54" fmla="*/ 421293 w 7299977"/>
              <a:gd name="connsiteY54" fmla="*/ 1892353 h 6858000"/>
              <a:gd name="connsiteX55" fmla="*/ 1531941 w 7299977"/>
              <a:gd name="connsiteY55" fmla="*/ 2208931 h 6858000"/>
              <a:gd name="connsiteX56" fmla="*/ 1188861 w 7299977"/>
              <a:gd name="connsiteY56" fmla="*/ 2077320 h 6858000"/>
              <a:gd name="connsiteX57" fmla="*/ 1421458 w 7299977"/>
              <a:gd name="connsiteY57" fmla="*/ 2102219 h 6858000"/>
              <a:gd name="connsiteX58" fmla="*/ 1549386 w 7299977"/>
              <a:gd name="connsiteY58" fmla="*/ 2013292 h 6858000"/>
              <a:gd name="connsiteX59" fmla="*/ 1549386 w 7299977"/>
              <a:gd name="connsiteY59" fmla="*/ 1984836 h 6858000"/>
              <a:gd name="connsiteX60" fmla="*/ 1453440 w 7299977"/>
              <a:gd name="connsiteY60" fmla="*/ 1903025 h 6858000"/>
              <a:gd name="connsiteX61" fmla="*/ 1398198 w 7299977"/>
              <a:gd name="connsiteY61" fmla="*/ 1849668 h 6858000"/>
              <a:gd name="connsiteX62" fmla="*/ 1247011 w 7299977"/>
              <a:gd name="connsiteY62" fmla="*/ 1657587 h 6858000"/>
              <a:gd name="connsiteX63" fmla="*/ 1354586 w 7299977"/>
              <a:gd name="connsiteY63" fmla="*/ 1636245 h 6858000"/>
              <a:gd name="connsiteX64" fmla="*/ 1395290 w 7299977"/>
              <a:gd name="connsiteY64" fmla="*/ 1597117 h 6858000"/>
              <a:gd name="connsiteX65" fmla="*/ 1366216 w 7299977"/>
              <a:gd name="connsiteY65" fmla="*/ 1540204 h 6858000"/>
              <a:gd name="connsiteX66" fmla="*/ 1031858 w 7299977"/>
              <a:gd name="connsiteY66" fmla="*/ 1365909 h 6858000"/>
              <a:gd name="connsiteX67" fmla="*/ 1005692 w 7299977"/>
              <a:gd name="connsiteY67" fmla="*/ 1230741 h 6858000"/>
              <a:gd name="connsiteX68" fmla="*/ 1069655 w 7299977"/>
              <a:gd name="connsiteY68" fmla="*/ 1209399 h 6858000"/>
              <a:gd name="connsiteX69" fmla="*/ 1142342 w 7299977"/>
              <a:gd name="connsiteY69" fmla="*/ 1220069 h 6858000"/>
              <a:gd name="connsiteX70" fmla="*/ 1084193 w 7299977"/>
              <a:gd name="connsiteY70" fmla="*/ 1113358 h 6858000"/>
              <a:gd name="connsiteX71" fmla="*/ 848689 w 7299977"/>
              <a:gd name="connsiteY71" fmla="*/ 1006647 h 6858000"/>
              <a:gd name="connsiteX72" fmla="*/ 805077 w 7299977"/>
              <a:gd name="connsiteY72" fmla="*/ 949734 h 6858000"/>
              <a:gd name="connsiteX73" fmla="*/ 863226 w 7299977"/>
              <a:gd name="connsiteY73" fmla="*/ 921277 h 6858000"/>
              <a:gd name="connsiteX74" fmla="*/ 906838 w 7299977"/>
              <a:gd name="connsiteY74" fmla="*/ 910606 h 6858000"/>
              <a:gd name="connsiteX75" fmla="*/ 5527 w 7299977"/>
              <a:gd name="connsiteY75" fmla="*/ 465975 h 6858000"/>
              <a:gd name="connsiteX76" fmla="*/ 209049 w 7299977"/>
              <a:gd name="connsiteY76" fmla="*/ 462417 h 6858000"/>
              <a:gd name="connsiteX77" fmla="*/ 409664 w 7299977"/>
              <a:gd name="connsiteY77" fmla="*/ 533558 h 6858000"/>
              <a:gd name="connsiteX78" fmla="*/ 621908 w 7299977"/>
              <a:gd name="connsiteY78" fmla="*/ 522887 h 6858000"/>
              <a:gd name="connsiteX79" fmla="*/ 822522 w 7299977"/>
              <a:gd name="connsiteY79" fmla="*/ 558458 h 6858000"/>
              <a:gd name="connsiteX80" fmla="*/ 996969 w 7299977"/>
              <a:gd name="connsiteY80" fmla="*/ 558458 h 6858000"/>
              <a:gd name="connsiteX81" fmla="*/ 834151 w 7299977"/>
              <a:gd name="connsiteY81" fmla="*/ 505101 h 6858000"/>
              <a:gd name="connsiteX82" fmla="*/ 773095 w 7299977"/>
              <a:gd name="connsiteY82" fmla="*/ 416176 h 6858000"/>
              <a:gd name="connsiteX83" fmla="*/ 793447 w 7299977"/>
              <a:gd name="connsiteY83" fmla="*/ 334364 h 6858000"/>
              <a:gd name="connsiteX84" fmla="*/ 860319 w 7299977"/>
              <a:gd name="connsiteY84" fmla="*/ 359262 h 6858000"/>
              <a:gd name="connsiteX85" fmla="*/ 938820 w 7299977"/>
              <a:gd name="connsiteY85" fmla="*/ 451747 h 6858000"/>
              <a:gd name="connsiteX86" fmla="*/ 956265 w 7299977"/>
              <a:gd name="connsiteY86" fmla="*/ 394834 h 6858000"/>
              <a:gd name="connsiteX87" fmla="*/ 1002784 w 7299977"/>
              <a:gd name="connsiteY87" fmla="*/ 352148 h 6858000"/>
              <a:gd name="connsiteX88" fmla="*/ 1270270 w 7299977"/>
              <a:gd name="connsiteY88" fmla="*/ 373491 h 6858000"/>
              <a:gd name="connsiteX89" fmla="*/ 1092915 w 7299977"/>
              <a:gd name="connsiteY89" fmla="*/ 192082 h 6858000"/>
              <a:gd name="connsiteX90" fmla="*/ 979525 w 7299977"/>
              <a:gd name="connsiteY90" fmla="*/ 163625 h 6858000"/>
              <a:gd name="connsiteX91" fmla="*/ 953358 w 7299977"/>
              <a:gd name="connsiteY91" fmla="*/ 88927 h 6858000"/>
              <a:gd name="connsiteX92" fmla="*/ 1005692 w 7299977"/>
              <a:gd name="connsiteY92" fmla="*/ 71141 h 6858000"/>
              <a:gd name="connsiteX93" fmla="*/ 1267362 w 7299977"/>
              <a:gd name="connsiteY93" fmla="*/ 135168 h 6858000"/>
              <a:gd name="connsiteX94" fmla="*/ 1310975 w 7299977"/>
              <a:gd name="connsiteY94" fmla="*/ 110269 h 6858000"/>
              <a:gd name="connsiteX95" fmla="*/ 1008599 w 7299977"/>
              <a:gd name="connsiteY9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7299977" h="6858000">
                <a:moveTo>
                  <a:pt x="1008599" y="0"/>
                </a:moveTo>
                <a:lnTo>
                  <a:pt x="4420653" y="0"/>
                </a:lnTo>
                <a:lnTo>
                  <a:pt x="5511704" y="0"/>
                </a:lnTo>
                <a:lnTo>
                  <a:pt x="7299977" y="0"/>
                </a:lnTo>
                <a:lnTo>
                  <a:pt x="7299977" y="6858000"/>
                </a:lnTo>
                <a:lnTo>
                  <a:pt x="5511704" y="6858000"/>
                </a:lnTo>
                <a:lnTo>
                  <a:pt x="4420653" y="6858000"/>
                </a:lnTo>
                <a:lnTo>
                  <a:pt x="1592997" y="6858000"/>
                </a:lnTo>
                <a:cubicBezTo>
                  <a:pt x="1473792" y="6786859"/>
                  <a:pt x="1360401" y="6701489"/>
                  <a:pt x="1232473" y="6658805"/>
                </a:cubicBezTo>
                <a:cubicBezTo>
                  <a:pt x="1145250" y="6630349"/>
                  <a:pt x="1060933" y="6580550"/>
                  <a:pt x="1075471" y="6431153"/>
                </a:cubicBezTo>
                <a:cubicBezTo>
                  <a:pt x="1078378" y="6388469"/>
                  <a:pt x="1055118" y="6356456"/>
                  <a:pt x="1020229" y="6367127"/>
                </a:cubicBezTo>
                <a:cubicBezTo>
                  <a:pt x="953358" y="6388469"/>
                  <a:pt x="921375" y="6327999"/>
                  <a:pt x="883579" y="6281757"/>
                </a:cubicBezTo>
                <a:cubicBezTo>
                  <a:pt x="816707" y="6199945"/>
                  <a:pt x="752743" y="6114575"/>
                  <a:pt x="645167" y="6100347"/>
                </a:cubicBezTo>
                <a:cubicBezTo>
                  <a:pt x="665519" y="6036320"/>
                  <a:pt x="700408" y="6043434"/>
                  <a:pt x="732391" y="6057663"/>
                </a:cubicBezTo>
                <a:cubicBezTo>
                  <a:pt x="816707" y="6093234"/>
                  <a:pt x="901023" y="6132361"/>
                  <a:pt x="985339" y="6167932"/>
                </a:cubicBezTo>
                <a:cubicBezTo>
                  <a:pt x="1040581" y="6189274"/>
                  <a:pt x="1095822" y="6221287"/>
                  <a:pt x="1168509" y="6196388"/>
                </a:cubicBezTo>
                <a:cubicBezTo>
                  <a:pt x="1104545" y="6068335"/>
                  <a:pt x="996969" y="6043434"/>
                  <a:pt x="909746" y="6004307"/>
                </a:cubicBezTo>
                <a:cubicBezTo>
                  <a:pt x="802169" y="5954508"/>
                  <a:pt x="738206" y="5862025"/>
                  <a:pt x="659704" y="5755314"/>
                </a:cubicBezTo>
                <a:cubicBezTo>
                  <a:pt x="738206" y="5726858"/>
                  <a:pt x="787632" y="5805112"/>
                  <a:pt x="851597" y="5801555"/>
                </a:cubicBezTo>
                <a:cubicBezTo>
                  <a:pt x="854504" y="5790884"/>
                  <a:pt x="860319" y="5769542"/>
                  <a:pt x="860319" y="5769542"/>
                </a:cubicBezTo>
                <a:cubicBezTo>
                  <a:pt x="755650" y="5712629"/>
                  <a:pt x="709132" y="5605917"/>
                  <a:pt x="691686" y="5474306"/>
                </a:cubicBezTo>
                <a:cubicBezTo>
                  <a:pt x="685872" y="5406721"/>
                  <a:pt x="648075" y="5385379"/>
                  <a:pt x="610278" y="5353367"/>
                </a:cubicBezTo>
                <a:cubicBezTo>
                  <a:pt x="482350" y="5243097"/>
                  <a:pt x="345700" y="5143500"/>
                  <a:pt x="238123" y="4994104"/>
                </a:cubicBezTo>
                <a:cubicBezTo>
                  <a:pt x="363144" y="5011889"/>
                  <a:pt x="461997" y="5111487"/>
                  <a:pt x="592833" y="5154171"/>
                </a:cubicBezTo>
                <a:cubicBezTo>
                  <a:pt x="488165" y="4990547"/>
                  <a:pt x="351514" y="4905177"/>
                  <a:pt x="226494" y="4805580"/>
                </a:cubicBezTo>
                <a:cubicBezTo>
                  <a:pt x="168344" y="4759339"/>
                  <a:pt x="116011" y="4702425"/>
                  <a:pt x="49139" y="4677526"/>
                </a:cubicBezTo>
                <a:cubicBezTo>
                  <a:pt x="25879" y="4670412"/>
                  <a:pt x="-14826" y="4652628"/>
                  <a:pt x="5527" y="4602828"/>
                </a:cubicBezTo>
                <a:cubicBezTo>
                  <a:pt x="22972" y="4560144"/>
                  <a:pt x="54954" y="4574373"/>
                  <a:pt x="84029" y="4585042"/>
                </a:cubicBezTo>
                <a:cubicBezTo>
                  <a:pt x="153807" y="4613499"/>
                  <a:pt x="229401" y="4613499"/>
                  <a:pt x="325347" y="4613499"/>
                </a:cubicBezTo>
                <a:cubicBezTo>
                  <a:pt x="243939" y="4478331"/>
                  <a:pt x="95658" y="4521016"/>
                  <a:pt x="25879" y="4378734"/>
                </a:cubicBezTo>
                <a:cubicBezTo>
                  <a:pt x="113103" y="4353835"/>
                  <a:pt x="179975" y="4403633"/>
                  <a:pt x="249753" y="4414305"/>
                </a:cubicBezTo>
                <a:cubicBezTo>
                  <a:pt x="313718" y="4424975"/>
                  <a:pt x="328254" y="4400076"/>
                  <a:pt x="313718" y="4321821"/>
                </a:cubicBezTo>
                <a:cubicBezTo>
                  <a:pt x="290458" y="4200882"/>
                  <a:pt x="325347" y="4140411"/>
                  <a:pt x="418386" y="4172424"/>
                </a:cubicBezTo>
                <a:cubicBezTo>
                  <a:pt x="505609" y="4204438"/>
                  <a:pt x="514332" y="4158196"/>
                  <a:pt x="491072" y="4090612"/>
                </a:cubicBezTo>
                <a:cubicBezTo>
                  <a:pt x="456183" y="3991015"/>
                  <a:pt x="493979" y="3912759"/>
                  <a:pt x="520147" y="3827390"/>
                </a:cubicBezTo>
                <a:cubicBezTo>
                  <a:pt x="560851" y="3699337"/>
                  <a:pt x="543407" y="3635309"/>
                  <a:pt x="459090" y="3539269"/>
                </a:cubicBezTo>
                <a:cubicBezTo>
                  <a:pt x="409664" y="3485914"/>
                  <a:pt x="360236" y="3439672"/>
                  <a:pt x="290458" y="3393429"/>
                </a:cubicBezTo>
                <a:cubicBezTo>
                  <a:pt x="450368" y="3368530"/>
                  <a:pt x="284643" y="3283162"/>
                  <a:pt x="339884" y="3229805"/>
                </a:cubicBezTo>
                <a:cubicBezTo>
                  <a:pt x="453275" y="3208463"/>
                  <a:pt x="543407" y="3379202"/>
                  <a:pt x="697501" y="3329402"/>
                </a:cubicBezTo>
                <a:cubicBezTo>
                  <a:pt x="511425" y="3183563"/>
                  <a:pt x="302087" y="3137322"/>
                  <a:pt x="165437" y="2941684"/>
                </a:cubicBezTo>
                <a:cubicBezTo>
                  <a:pt x="197419" y="2899000"/>
                  <a:pt x="229401" y="2941684"/>
                  <a:pt x="255568" y="2923898"/>
                </a:cubicBezTo>
                <a:cubicBezTo>
                  <a:pt x="255568" y="2913227"/>
                  <a:pt x="560851" y="2980812"/>
                  <a:pt x="578296" y="2703362"/>
                </a:cubicBezTo>
                <a:cubicBezTo>
                  <a:pt x="584111" y="2703362"/>
                  <a:pt x="589926" y="2703362"/>
                  <a:pt x="595740" y="2692689"/>
                </a:cubicBezTo>
                <a:cubicBezTo>
                  <a:pt x="627722" y="2653563"/>
                  <a:pt x="598648" y="2561080"/>
                  <a:pt x="650982" y="2553965"/>
                </a:cubicBezTo>
                <a:cubicBezTo>
                  <a:pt x="709132" y="2546851"/>
                  <a:pt x="764373" y="2514837"/>
                  <a:pt x="825429" y="2532623"/>
                </a:cubicBezTo>
                <a:cubicBezTo>
                  <a:pt x="871949" y="2546851"/>
                  <a:pt x="921375" y="2564636"/>
                  <a:pt x="970802" y="2564636"/>
                </a:cubicBezTo>
                <a:cubicBezTo>
                  <a:pt x="1023136" y="2564636"/>
                  <a:pt x="1095822" y="2685576"/>
                  <a:pt x="1127805" y="2525509"/>
                </a:cubicBezTo>
                <a:cubicBezTo>
                  <a:pt x="1127805" y="2518395"/>
                  <a:pt x="1217936" y="2536181"/>
                  <a:pt x="1267362" y="2543294"/>
                </a:cubicBezTo>
                <a:cubicBezTo>
                  <a:pt x="1308067" y="2550408"/>
                  <a:pt x="1357494" y="2582422"/>
                  <a:pt x="1386568" y="2518395"/>
                </a:cubicBezTo>
                <a:cubicBezTo>
                  <a:pt x="1401105" y="2479267"/>
                  <a:pt x="1331326" y="2408126"/>
                  <a:pt x="1270270" y="2401012"/>
                </a:cubicBezTo>
                <a:cubicBezTo>
                  <a:pt x="1215029" y="2393898"/>
                  <a:pt x="1159787" y="2386784"/>
                  <a:pt x="1107453" y="2401012"/>
                </a:cubicBezTo>
                <a:cubicBezTo>
                  <a:pt x="1043489" y="2418796"/>
                  <a:pt x="1008599" y="2390340"/>
                  <a:pt x="991154" y="2326314"/>
                </a:cubicBezTo>
                <a:cubicBezTo>
                  <a:pt x="970802" y="2258731"/>
                  <a:pt x="933005" y="2223159"/>
                  <a:pt x="880671" y="2191146"/>
                </a:cubicBezTo>
                <a:cubicBezTo>
                  <a:pt x="752743" y="2112891"/>
                  <a:pt x="630630" y="2020407"/>
                  <a:pt x="491072" y="1974165"/>
                </a:cubicBezTo>
                <a:cubicBezTo>
                  <a:pt x="464905" y="1967051"/>
                  <a:pt x="432923" y="1952823"/>
                  <a:pt x="421293" y="1892353"/>
                </a:cubicBezTo>
                <a:cubicBezTo>
                  <a:pt x="799262" y="1984836"/>
                  <a:pt x="1142342" y="2223159"/>
                  <a:pt x="1531941" y="2208931"/>
                </a:cubicBezTo>
                <a:cubicBezTo>
                  <a:pt x="1427272" y="2134233"/>
                  <a:pt x="1302252" y="2130676"/>
                  <a:pt x="1188861" y="2077320"/>
                </a:cubicBezTo>
                <a:cubicBezTo>
                  <a:pt x="1270270" y="2038192"/>
                  <a:pt x="1345864" y="2080877"/>
                  <a:pt x="1421458" y="2102219"/>
                </a:cubicBezTo>
                <a:cubicBezTo>
                  <a:pt x="1485422" y="2120004"/>
                  <a:pt x="1543571" y="2123562"/>
                  <a:pt x="1549386" y="2013292"/>
                </a:cubicBezTo>
                <a:cubicBezTo>
                  <a:pt x="1549386" y="2002622"/>
                  <a:pt x="1549386" y="1995507"/>
                  <a:pt x="1549386" y="1984836"/>
                </a:cubicBezTo>
                <a:cubicBezTo>
                  <a:pt x="1526126" y="1938595"/>
                  <a:pt x="1494144" y="1917252"/>
                  <a:pt x="1453440" y="1903025"/>
                </a:cubicBezTo>
                <a:cubicBezTo>
                  <a:pt x="1430180" y="1895910"/>
                  <a:pt x="1398198" y="1881683"/>
                  <a:pt x="1398198" y="1849668"/>
                </a:cubicBezTo>
                <a:cubicBezTo>
                  <a:pt x="1401105" y="1728729"/>
                  <a:pt x="1322604" y="1693158"/>
                  <a:pt x="1247011" y="1657587"/>
                </a:cubicBezTo>
                <a:cubicBezTo>
                  <a:pt x="1287715" y="1597117"/>
                  <a:pt x="1322604" y="1639802"/>
                  <a:pt x="1354586" y="1636245"/>
                </a:cubicBezTo>
                <a:cubicBezTo>
                  <a:pt x="1374939" y="1632688"/>
                  <a:pt x="1395290" y="1629132"/>
                  <a:pt x="1395290" y="1597117"/>
                </a:cubicBezTo>
                <a:cubicBezTo>
                  <a:pt x="1395290" y="1572219"/>
                  <a:pt x="1386568" y="1540204"/>
                  <a:pt x="1366216" y="1540204"/>
                </a:cubicBezTo>
                <a:cubicBezTo>
                  <a:pt x="1238288" y="1536647"/>
                  <a:pt x="1165601" y="1365909"/>
                  <a:pt x="1031858" y="1365909"/>
                </a:cubicBezTo>
                <a:cubicBezTo>
                  <a:pt x="950450" y="1365909"/>
                  <a:pt x="1072563" y="1269868"/>
                  <a:pt x="1005692" y="1230741"/>
                </a:cubicBezTo>
                <a:cubicBezTo>
                  <a:pt x="991154" y="1220069"/>
                  <a:pt x="1046396" y="1205842"/>
                  <a:pt x="1069655" y="1209399"/>
                </a:cubicBezTo>
                <a:cubicBezTo>
                  <a:pt x="1092915" y="1212955"/>
                  <a:pt x="1113268" y="1237855"/>
                  <a:pt x="1142342" y="1220069"/>
                </a:cubicBezTo>
                <a:cubicBezTo>
                  <a:pt x="1156879" y="1156043"/>
                  <a:pt x="1119082" y="1131144"/>
                  <a:pt x="1084193" y="1113358"/>
                </a:cubicBezTo>
                <a:cubicBezTo>
                  <a:pt x="1008599" y="1070674"/>
                  <a:pt x="933005" y="1020875"/>
                  <a:pt x="848689" y="1006647"/>
                </a:cubicBezTo>
                <a:cubicBezTo>
                  <a:pt x="819615" y="1003089"/>
                  <a:pt x="802169" y="985305"/>
                  <a:pt x="805077" y="949734"/>
                </a:cubicBezTo>
                <a:cubicBezTo>
                  <a:pt x="810892" y="903491"/>
                  <a:pt x="839967" y="917720"/>
                  <a:pt x="863226" y="921277"/>
                </a:cubicBezTo>
                <a:cubicBezTo>
                  <a:pt x="877764" y="924835"/>
                  <a:pt x="892301" y="935506"/>
                  <a:pt x="906838" y="910606"/>
                </a:cubicBezTo>
                <a:cubicBezTo>
                  <a:pt x="566666" y="658055"/>
                  <a:pt x="386404" y="672284"/>
                  <a:pt x="5527" y="465975"/>
                </a:cubicBezTo>
                <a:cubicBezTo>
                  <a:pt x="89843" y="426847"/>
                  <a:pt x="150900" y="455303"/>
                  <a:pt x="209049" y="462417"/>
                </a:cubicBezTo>
                <a:cubicBezTo>
                  <a:pt x="354422" y="480203"/>
                  <a:pt x="264290" y="512216"/>
                  <a:pt x="409664" y="533558"/>
                </a:cubicBezTo>
                <a:cubicBezTo>
                  <a:pt x="479443" y="544229"/>
                  <a:pt x="543407" y="579800"/>
                  <a:pt x="621908" y="522887"/>
                </a:cubicBezTo>
                <a:cubicBezTo>
                  <a:pt x="674242" y="483759"/>
                  <a:pt x="758558" y="526444"/>
                  <a:pt x="822522" y="558458"/>
                </a:cubicBezTo>
                <a:cubicBezTo>
                  <a:pt x="874856" y="586915"/>
                  <a:pt x="927190" y="594028"/>
                  <a:pt x="996969" y="558458"/>
                </a:cubicBezTo>
                <a:cubicBezTo>
                  <a:pt x="933005" y="537116"/>
                  <a:pt x="883579" y="519330"/>
                  <a:pt x="834151" y="505101"/>
                </a:cubicBezTo>
                <a:cubicBezTo>
                  <a:pt x="793447" y="494431"/>
                  <a:pt x="770187" y="469532"/>
                  <a:pt x="773095" y="416176"/>
                </a:cubicBezTo>
                <a:cubicBezTo>
                  <a:pt x="773095" y="387720"/>
                  <a:pt x="764373" y="348592"/>
                  <a:pt x="793447" y="334364"/>
                </a:cubicBezTo>
                <a:cubicBezTo>
                  <a:pt x="816707" y="320135"/>
                  <a:pt x="848689" y="334364"/>
                  <a:pt x="860319" y="359262"/>
                </a:cubicBezTo>
                <a:cubicBezTo>
                  <a:pt x="874856" y="405504"/>
                  <a:pt x="889393" y="448189"/>
                  <a:pt x="938820" y="451747"/>
                </a:cubicBezTo>
                <a:cubicBezTo>
                  <a:pt x="1005692" y="458860"/>
                  <a:pt x="967894" y="430405"/>
                  <a:pt x="956265" y="394834"/>
                </a:cubicBezTo>
                <a:cubicBezTo>
                  <a:pt x="944635" y="355706"/>
                  <a:pt x="979525" y="345034"/>
                  <a:pt x="1002784" y="352148"/>
                </a:cubicBezTo>
                <a:cubicBezTo>
                  <a:pt x="1090008" y="384162"/>
                  <a:pt x="1180139" y="327250"/>
                  <a:pt x="1270270" y="373491"/>
                </a:cubicBezTo>
                <a:cubicBezTo>
                  <a:pt x="1247011" y="259665"/>
                  <a:pt x="1197583" y="209867"/>
                  <a:pt x="1092915" y="192082"/>
                </a:cubicBezTo>
                <a:cubicBezTo>
                  <a:pt x="1055118" y="188525"/>
                  <a:pt x="1014414" y="195638"/>
                  <a:pt x="979525" y="163625"/>
                </a:cubicBezTo>
                <a:cubicBezTo>
                  <a:pt x="959172" y="145839"/>
                  <a:pt x="938820" y="124497"/>
                  <a:pt x="953358" y="88927"/>
                </a:cubicBezTo>
                <a:cubicBezTo>
                  <a:pt x="962080" y="64027"/>
                  <a:pt x="985339" y="64027"/>
                  <a:pt x="1005692" y="71141"/>
                </a:cubicBezTo>
                <a:cubicBezTo>
                  <a:pt x="1090008" y="110269"/>
                  <a:pt x="1180139" y="120941"/>
                  <a:pt x="1267362" y="135168"/>
                </a:cubicBezTo>
                <a:cubicBezTo>
                  <a:pt x="1281900" y="138725"/>
                  <a:pt x="1296437" y="145839"/>
                  <a:pt x="1310975" y="110269"/>
                </a:cubicBezTo>
                <a:cubicBezTo>
                  <a:pt x="1209214" y="78255"/>
                  <a:pt x="1110360" y="35571"/>
                  <a:pt x="1008599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7FFC92-ADC7-01AF-1CD4-BE6D37175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749"/>
            <a:ext cx="4953001" cy="4726502"/>
          </a:xfrm>
        </p:spPr>
        <p:txBody>
          <a:bodyPr>
            <a:normAutofit/>
          </a:bodyPr>
          <a:lstStyle/>
          <a:p>
            <a:r>
              <a:rPr lang="sr-Latn-RS" dirty="0"/>
              <a:t>3. </a:t>
            </a:r>
            <a:r>
              <a:rPr lang="en-GB" dirty="0"/>
              <a:t>Revenue Growth Is Coming at the Expense of Basket Value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1323B-599F-61AE-233B-965D89870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8022" y="713313"/>
            <a:ext cx="3815778" cy="5431376"/>
          </a:xfrm>
        </p:spPr>
        <p:txBody>
          <a:bodyPr anchor="ctr">
            <a:normAutofit/>
          </a:bodyPr>
          <a:lstStyle/>
          <a:p>
            <a:r>
              <a:rPr lang="en-GB" sz="2000"/>
              <a:t>CRM increased revenue (</a:t>
            </a:r>
            <a:r>
              <a:rPr lang="en-GB" sz="2000" b="1"/>
              <a:t>+59,936</a:t>
            </a:r>
            <a:r>
              <a:rPr lang="en-GB" sz="2000"/>
              <a:t>) and transactions (</a:t>
            </a:r>
            <a:r>
              <a:rPr lang="en-GB" sz="2000" b="1"/>
              <a:t>+1,089</a:t>
            </a:r>
            <a:r>
              <a:rPr lang="en-GB" sz="2000"/>
              <a:t>), while </a:t>
            </a:r>
            <a:r>
              <a:rPr lang="en-GB" sz="2000" b="1"/>
              <a:t>AOV declined by 10.89</a:t>
            </a:r>
            <a:r>
              <a:rPr lang="en-GB" sz="2000"/>
              <a:t>.</a:t>
            </a:r>
            <a:endParaRPr lang="sr-Latn-RS" sz="2000"/>
          </a:p>
          <a:p>
            <a:pPr marL="0" indent="0">
              <a:buNone/>
            </a:pPr>
            <a:endParaRPr lang="sr-Latn-RS" sz="2000"/>
          </a:p>
          <a:p>
            <a:r>
              <a:rPr lang="en-GB" sz="2000"/>
              <a:t>This indicates CRM is trading </a:t>
            </a:r>
            <a:r>
              <a:rPr lang="en-GB" sz="2000" b="1"/>
              <a:t>basket value for activity</a:t>
            </a:r>
            <a:r>
              <a:rPr lang="en-GB" sz="2000"/>
              <a:t>, which may pressure margin if unmanaged.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911085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E42F4F-4319-8DBC-14C1-834B5288A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4038600" cy="5431376"/>
          </a:xfrm>
        </p:spPr>
        <p:txBody>
          <a:bodyPr>
            <a:normAutofit/>
          </a:bodyPr>
          <a:lstStyle/>
          <a:p>
            <a:r>
              <a:rPr lang="sr-Latn-RS" dirty="0"/>
              <a:t>4. </a:t>
            </a:r>
            <a:r>
              <a:rPr lang="en-GB" dirty="0"/>
              <a:t>High-Value Customers Drive Impact; Low-Value Require Tight Discipline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81525-9279-000A-E2B6-DEF25EA1D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713313"/>
            <a:ext cx="5257801" cy="5431376"/>
          </a:xfrm>
        </p:spPr>
        <p:txBody>
          <a:bodyPr anchor="ctr">
            <a:normAutofit/>
          </a:bodyPr>
          <a:lstStyle/>
          <a:p>
            <a:r>
              <a:rPr lang="en-GB" sz="2000"/>
              <a:t>Last month incremental revenue totaled </a:t>
            </a:r>
            <a:r>
              <a:rPr lang="en-GB" sz="2000" b="1"/>
              <a:t>+1,620</a:t>
            </a:r>
            <a:r>
              <a:rPr lang="en-GB" sz="2000"/>
              <a:t>, split as:</a:t>
            </a:r>
          </a:p>
          <a:p>
            <a:pPr marL="0" indent="0">
              <a:buNone/>
            </a:pPr>
            <a:r>
              <a:rPr lang="sr-Latn-RS" sz="2000" b="1"/>
              <a:t>	</a:t>
            </a:r>
            <a:r>
              <a:rPr lang="en-GB" sz="2000" b="1"/>
              <a:t>High Value: +974</a:t>
            </a:r>
            <a:endParaRPr lang="en-GB" sz="2000"/>
          </a:p>
          <a:p>
            <a:pPr marL="0" indent="0">
              <a:buNone/>
            </a:pPr>
            <a:r>
              <a:rPr lang="sr-Latn-RS" sz="2000" b="1"/>
              <a:t>	</a:t>
            </a:r>
            <a:r>
              <a:rPr lang="en-GB" sz="2000" b="1"/>
              <a:t>Low Value: +647</a:t>
            </a:r>
            <a:endParaRPr lang="en-GB" sz="2000"/>
          </a:p>
          <a:p>
            <a:r>
              <a:rPr lang="en-GB" sz="2000"/>
              <a:t>High Value customers remain the dominant value driver.</a:t>
            </a:r>
            <a:br>
              <a:rPr lang="en-GB" sz="2000"/>
            </a:br>
            <a:r>
              <a:rPr lang="en-GB" sz="2000"/>
              <a:t>Low Value customers contribute positively but require stricter contact limits to avoid erosion.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433461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0339EE9-5436-4860-BBFC-7CD7C90DB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770EBD-5B77-46EC-BF58-EF27ACD6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5" y="0"/>
            <a:ext cx="7537705" cy="6858000"/>
          </a:xfrm>
          <a:custGeom>
            <a:avLst/>
            <a:gdLst>
              <a:gd name="connsiteX0" fmla="*/ 1008599 w 7299977"/>
              <a:gd name="connsiteY0" fmla="*/ 0 h 6858000"/>
              <a:gd name="connsiteX1" fmla="*/ 4420653 w 7299977"/>
              <a:gd name="connsiteY1" fmla="*/ 0 h 6858000"/>
              <a:gd name="connsiteX2" fmla="*/ 5511704 w 7299977"/>
              <a:gd name="connsiteY2" fmla="*/ 0 h 6858000"/>
              <a:gd name="connsiteX3" fmla="*/ 7299977 w 7299977"/>
              <a:gd name="connsiteY3" fmla="*/ 0 h 6858000"/>
              <a:gd name="connsiteX4" fmla="*/ 7299977 w 7299977"/>
              <a:gd name="connsiteY4" fmla="*/ 6858000 h 6858000"/>
              <a:gd name="connsiteX5" fmla="*/ 5511704 w 7299977"/>
              <a:gd name="connsiteY5" fmla="*/ 6858000 h 6858000"/>
              <a:gd name="connsiteX6" fmla="*/ 4420653 w 7299977"/>
              <a:gd name="connsiteY6" fmla="*/ 6858000 h 6858000"/>
              <a:gd name="connsiteX7" fmla="*/ 1592997 w 7299977"/>
              <a:gd name="connsiteY7" fmla="*/ 6858000 h 6858000"/>
              <a:gd name="connsiteX8" fmla="*/ 1232473 w 7299977"/>
              <a:gd name="connsiteY8" fmla="*/ 6658805 h 6858000"/>
              <a:gd name="connsiteX9" fmla="*/ 1075471 w 7299977"/>
              <a:gd name="connsiteY9" fmla="*/ 6431153 h 6858000"/>
              <a:gd name="connsiteX10" fmla="*/ 1020229 w 7299977"/>
              <a:gd name="connsiteY10" fmla="*/ 6367127 h 6858000"/>
              <a:gd name="connsiteX11" fmla="*/ 883579 w 7299977"/>
              <a:gd name="connsiteY11" fmla="*/ 6281757 h 6858000"/>
              <a:gd name="connsiteX12" fmla="*/ 645167 w 7299977"/>
              <a:gd name="connsiteY12" fmla="*/ 6100347 h 6858000"/>
              <a:gd name="connsiteX13" fmla="*/ 732391 w 7299977"/>
              <a:gd name="connsiteY13" fmla="*/ 6057663 h 6858000"/>
              <a:gd name="connsiteX14" fmla="*/ 985339 w 7299977"/>
              <a:gd name="connsiteY14" fmla="*/ 6167932 h 6858000"/>
              <a:gd name="connsiteX15" fmla="*/ 1168509 w 7299977"/>
              <a:gd name="connsiteY15" fmla="*/ 6196388 h 6858000"/>
              <a:gd name="connsiteX16" fmla="*/ 909746 w 7299977"/>
              <a:gd name="connsiteY16" fmla="*/ 6004307 h 6858000"/>
              <a:gd name="connsiteX17" fmla="*/ 659704 w 7299977"/>
              <a:gd name="connsiteY17" fmla="*/ 5755314 h 6858000"/>
              <a:gd name="connsiteX18" fmla="*/ 851597 w 7299977"/>
              <a:gd name="connsiteY18" fmla="*/ 5801555 h 6858000"/>
              <a:gd name="connsiteX19" fmla="*/ 860319 w 7299977"/>
              <a:gd name="connsiteY19" fmla="*/ 5769542 h 6858000"/>
              <a:gd name="connsiteX20" fmla="*/ 691686 w 7299977"/>
              <a:gd name="connsiteY20" fmla="*/ 5474306 h 6858000"/>
              <a:gd name="connsiteX21" fmla="*/ 610278 w 7299977"/>
              <a:gd name="connsiteY21" fmla="*/ 5353367 h 6858000"/>
              <a:gd name="connsiteX22" fmla="*/ 238123 w 7299977"/>
              <a:gd name="connsiteY22" fmla="*/ 4994104 h 6858000"/>
              <a:gd name="connsiteX23" fmla="*/ 592833 w 7299977"/>
              <a:gd name="connsiteY23" fmla="*/ 5154171 h 6858000"/>
              <a:gd name="connsiteX24" fmla="*/ 226494 w 7299977"/>
              <a:gd name="connsiteY24" fmla="*/ 4805580 h 6858000"/>
              <a:gd name="connsiteX25" fmla="*/ 49139 w 7299977"/>
              <a:gd name="connsiteY25" fmla="*/ 4677526 h 6858000"/>
              <a:gd name="connsiteX26" fmla="*/ 5527 w 7299977"/>
              <a:gd name="connsiteY26" fmla="*/ 4602828 h 6858000"/>
              <a:gd name="connsiteX27" fmla="*/ 84029 w 7299977"/>
              <a:gd name="connsiteY27" fmla="*/ 4585042 h 6858000"/>
              <a:gd name="connsiteX28" fmla="*/ 325347 w 7299977"/>
              <a:gd name="connsiteY28" fmla="*/ 4613499 h 6858000"/>
              <a:gd name="connsiteX29" fmla="*/ 25879 w 7299977"/>
              <a:gd name="connsiteY29" fmla="*/ 4378734 h 6858000"/>
              <a:gd name="connsiteX30" fmla="*/ 249753 w 7299977"/>
              <a:gd name="connsiteY30" fmla="*/ 4414305 h 6858000"/>
              <a:gd name="connsiteX31" fmla="*/ 313718 w 7299977"/>
              <a:gd name="connsiteY31" fmla="*/ 4321821 h 6858000"/>
              <a:gd name="connsiteX32" fmla="*/ 418386 w 7299977"/>
              <a:gd name="connsiteY32" fmla="*/ 4172424 h 6858000"/>
              <a:gd name="connsiteX33" fmla="*/ 491072 w 7299977"/>
              <a:gd name="connsiteY33" fmla="*/ 4090612 h 6858000"/>
              <a:gd name="connsiteX34" fmla="*/ 520147 w 7299977"/>
              <a:gd name="connsiteY34" fmla="*/ 3827390 h 6858000"/>
              <a:gd name="connsiteX35" fmla="*/ 459090 w 7299977"/>
              <a:gd name="connsiteY35" fmla="*/ 3539269 h 6858000"/>
              <a:gd name="connsiteX36" fmla="*/ 290458 w 7299977"/>
              <a:gd name="connsiteY36" fmla="*/ 3393429 h 6858000"/>
              <a:gd name="connsiteX37" fmla="*/ 339884 w 7299977"/>
              <a:gd name="connsiteY37" fmla="*/ 3229805 h 6858000"/>
              <a:gd name="connsiteX38" fmla="*/ 697501 w 7299977"/>
              <a:gd name="connsiteY38" fmla="*/ 3329402 h 6858000"/>
              <a:gd name="connsiteX39" fmla="*/ 165437 w 7299977"/>
              <a:gd name="connsiteY39" fmla="*/ 2941684 h 6858000"/>
              <a:gd name="connsiteX40" fmla="*/ 255568 w 7299977"/>
              <a:gd name="connsiteY40" fmla="*/ 2923898 h 6858000"/>
              <a:gd name="connsiteX41" fmla="*/ 578296 w 7299977"/>
              <a:gd name="connsiteY41" fmla="*/ 2703362 h 6858000"/>
              <a:gd name="connsiteX42" fmla="*/ 595740 w 7299977"/>
              <a:gd name="connsiteY42" fmla="*/ 2692689 h 6858000"/>
              <a:gd name="connsiteX43" fmla="*/ 650982 w 7299977"/>
              <a:gd name="connsiteY43" fmla="*/ 2553965 h 6858000"/>
              <a:gd name="connsiteX44" fmla="*/ 825429 w 7299977"/>
              <a:gd name="connsiteY44" fmla="*/ 2532623 h 6858000"/>
              <a:gd name="connsiteX45" fmla="*/ 970802 w 7299977"/>
              <a:gd name="connsiteY45" fmla="*/ 2564636 h 6858000"/>
              <a:gd name="connsiteX46" fmla="*/ 1127805 w 7299977"/>
              <a:gd name="connsiteY46" fmla="*/ 2525509 h 6858000"/>
              <a:gd name="connsiteX47" fmla="*/ 1267362 w 7299977"/>
              <a:gd name="connsiteY47" fmla="*/ 2543294 h 6858000"/>
              <a:gd name="connsiteX48" fmla="*/ 1386568 w 7299977"/>
              <a:gd name="connsiteY48" fmla="*/ 2518395 h 6858000"/>
              <a:gd name="connsiteX49" fmla="*/ 1270270 w 7299977"/>
              <a:gd name="connsiteY49" fmla="*/ 2401012 h 6858000"/>
              <a:gd name="connsiteX50" fmla="*/ 1107453 w 7299977"/>
              <a:gd name="connsiteY50" fmla="*/ 2401012 h 6858000"/>
              <a:gd name="connsiteX51" fmla="*/ 991154 w 7299977"/>
              <a:gd name="connsiteY51" fmla="*/ 2326314 h 6858000"/>
              <a:gd name="connsiteX52" fmla="*/ 880671 w 7299977"/>
              <a:gd name="connsiteY52" fmla="*/ 2191146 h 6858000"/>
              <a:gd name="connsiteX53" fmla="*/ 491072 w 7299977"/>
              <a:gd name="connsiteY53" fmla="*/ 1974165 h 6858000"/>
              <a:gd name="connsiteX54" fmla="*/ 421293 w 7299977"/>
              <a:gd name="connsiteY54" fmla="*/ 1892353 h 6858000"/>
              <a:gd name="connsiteX55" fmla="*/ 1531941 w 7299977"/>
              <a:gd name="connsiteY55" fmla="*/ 2208931 h 6858000"/>
              <a:gd name="connsiteX56" fmla="*/ 1188861 w 7299977"/>
              <a:gd name="connsiteY56" fmla="*/ 2077320 h 6858000"/>
              <a:gd name="connsiteX57" fmla="*/ 1421458 w 7299977"/>
              <a:gd name="connsiteY57" fmla="*/ 2102219 h 6858000"/>
              <a:gd name="connsiteX58" fmla="*/ 1549386 w 7299977"/>
              <a:gd name="connsiteY58" fmla="*/ 2013292 h 6858000"/>
              <a:gd name="connsiteX59" fmla="*/ 1549386 w 7299977"/>
              <a:gd name="connsiteY59" fmla="*/ 1984836 h 6858000"/>
              <a:gd name="connsiteX60" fmla="*/ 1453440 w 7299977"/>
              <a:gd name="connsiteY60" fmla="*/ 1903025 h 6858000"/>
              <a:gd name="connsiteX61" fmla="*/ 1398198 w 7299977"/>
              <a:gd name="connsiteY61" fmla="*/ 1849668 h 6858000"/>
              <a:gd name="connsiteX62" fmla="*/ 1247011 w 7299977"/>
              <a:gd name="connsiteY62" fmla="*/ 1657587 h 6858000"/>
              <a:gd name="connsiteX63" fmla="*/ 1354586 w 7299977"/>
              <a:gd name="connsiteY63" fmla="*/ 1636245 h 6858000"/>
              <a:gd name="connsiteX64" fmla="*/ 1395290 w 7299977"/>
              <a:gd name="connsiteY64" fmla="*/ 1597117 h 6858000"/>
              <a:gd name="connsiteX65" fmla="*/ 1366216 w 7299977"/>
              <a:gd name="connsiteY65" fmla="*/ 1540204 h 6858000"/>
              <a:gd name="connsiteX66" fmla="*/ 1031858 w 7299977"/>
              <a:gd name="connsiteY66" fmla="*/ 1365909 h 6858000"/>
              <a:gd name="connsiteX67" fmla="*/ 1005692 w 7299977"/>
              <a:gd name="connsiteY67" fmla="*/ 1230741 h 6858000"/>
              <a:gd name="connsiteX68" fmla="*/ 1069655 w 7299977"/>
              <a:gd name="connsiteY68" fmla="*/ 1209399 h 6858000"/>
              <a:gd name="connsiteX69" fmla="*/ 1142342 w 7299977"/>
              <a:gd name="connsiteY69" fmla="*/ 1220069 h 6858000"/>
              <a:gd name="connsiteX70" fmla="*/ 1084193 w 7299977"/>
              <a:gd name="connsiteY70" fmla="*/ 1113358 h 6858000"/>
              <a:gd name="connsiteX71" fmla="*/ 848689 w 7299977"/>
              <a:gd name="connsiteY71" fmla="*/ 1006647 h 6858000"/>
              <a:gd name="connsiteX72" fmla="*/ 805077 w 7299977"/>
              <a:gd name="connsiteY72" fmla="*/ 949734 h 6858000"/>
              <a:gd name="connsiteX73" fmla="*/ 863226 w 7299977"/>
              <a:gd name="connsiteY73" fmla="*/ 921277 h 6858000"/>
              <a:gd name="connsiteX74" fmla="*/ 906838 w 7299977"/>
              <a:gd name="connsiteY74" fmla="*/ 910606 h 6858000"/>
              <a:gd name="connsiteX75" fmla="*/ 5527 w 7299977"/>
              <a:gd name="connsiteY75" fmla="*/ 465975 h 6858000"/>
              <a:gd name="connsiteX76" fmla="*/ 209049 w 7299977"/>
              <a:gd name="connsiteY76" fmla="*/ 462417 h 6858000"/>
              <a:gd name="connsiteX77" fmla="*/ 409664 w 7299977"/>
              <a:gd name="connsiteY77" fmla="*/ 533558 h 6858000"/>
              <a:gd name="connsiteX78" fmla="*/ 621908 w 7299977"/>
              <a:gd name="connsiteY78" fmla="*/ 522887 h 6858000"/>
              <a:gd name="connsiteX79" fmla="*/ 822522 w 7299977"/>
              <a:gd name="connsiteY79" fmla="*/ 558458 h 6858000"/>
              <a:gd name="connsiteX80" fmla="*/ 996969 w 7299977"/>
              <a:gd name="connsiteY80" fmla="*/ 558458 h 6858000"/>
              <a:gd name="connsiteX81" fmla="*/ 834151 w 7299977"/>
              <a:gd name="connsiteY81" fmla="*/ 505101 h 6858000"/>
              <a:gd name="connsiteX82" fmla="*/ 773095 w 7299977"/>
              <a:gd name="connsiteY82" fmla="*/ 416176 h 6858000"/>
              <a:gd name="connsiteX83" fmla="*/ 793447 w 7299977"/>
              <a:gd name="connsiteY83" fmla="*/ 334364 h 6858000"/>
              <a:gd name="connsiteX84" fmla="*/ 860319 w 7299977"/>
              <a:gd name="connsiteY84" fmla="*/ 359262 h 6858000"/>
              <a:gd name="connsiteX85" fmla="*/ 938820 w 7299977"/>
              <a:gd name="connsiteY85" fmla="*/ 451747 h 6858000"/>
              <a:gd name="connsiteX86" fmla="*/ 956265 w 7299977"/>
              <a:gd name="connsiteY86" fmla="*/ 394834 h 6858000"/>
              <a:gd name="connsiteX87" fmla="*/ 1002784 w 7299977"/>
              <a:gd name="connsiteY87" fmla="*/ 352148 h 6858000"/>
              <a:gd name="connsiteX88" fmla="*/ 1270270 w 7299977"/>
              <a:gd name="connsiteY88" fmla="*/ 373491 h 6858000"/>
              <a:gd name="connsiteX89" fmla="*/ 1092915 w 7299977"/>
              <a:gd name="connsiteY89" fmla="*/ 192082 h 6858000"/>
              <a:gd name="connsiteX90" fmla="*/ 979525 w 7299977"/>
              <a:gd name="connsiteY90" fmla="*/ 163625 h 6858000"/>
              <a:gd name="connsiteX91" fmla="*/ 953358 w 7299977"/>
              <a:gd name="connsiteY91" fmla="*/ 88927 h 6858000"/>
              <a:gd name="connsiteX92" fmla="*/ 1005692 w 7299977"/>
              <a:gd name="connsiteY92" fmla="*/ 71141 h 6858000"/>
              <a:gd name="connsiteX93" fmla="*/ 1267362 w 7299977"/>
              <a:gd name="connsiteY93" fmla="*/ 135168 h 6858000"/>
              <a:gd name="connsiteX94" fmla="*/ 1310975 w 7299977"/>
              <a:gd name="connsiteY94" fmla="*/ 110269 h 6858000"/>
              <a:gd name="connsiteX95" fmla="*/ 1008599 w 7299977"/>
              <a:gd name="connsiteY9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7299977" h="6858000">
                <a:moveTo>
                  <a:pt x="1008599" y="0"/>
                </a:moveTo>
                <a:lnTo>
                  <a:pt x="4420653" y="0"/>
                </a:lnTo>
                <a:lnTo>
                  <a:pt x="5511704" y="0"/>
                </a:lnTo>
                <a:lnTo>
                  <a:pt x="7299977" y="0"/>
                </a:lnTo>
                <a:lnTo>
                  <a:pt x="7299977" y="6858000"/>
                </a:lnTo>
                <a:lnTo>
                  <a:pt x="5511704" y="6858000"/>
                </a:lnTo>
                <a:lnTo>
                  <a:pt x="4420653" y="6858000"/>
                </a:lnTo>
                <a:lnTo>
                  <a:pt x="1592997" y="6858000"/>
                </a:lnTo>
                <a:cubicBezTo>
                  <a:pt x="1473792" y="6786859"/>
                  <a:pt x="1360401" y="6701489"/>
                  <a:pt x="1232473" y="6658805"/>
                </a:cubicBezTo>
                <a:cubicBezTo>
                  <a:pt x="1145250" y="6630349"/>
                  <a:pt x="1060933" y="6580550"/>
                  <a:pt x="1075471" y="6431153"/>
                </a:cubicBezTo>
                <a:cubicBezTo>
                  <a:pt x="1078378" y="6388469"/>
                  <a:pt x="1055118" y="6356456"/>
                  <a:pt x="1020229" y="6367127"/>
                </a:cubicBezTo>
                <a:cubicBezTo>
                  <a:pt x="953358" y="6388469"/>
                  <a:pt x="921375" y="6327999"/>
                  <a:pt x="883579" y="6281757"/>
                </a:cubicBezTo>
                <a:cubicBezTo>
                  <a:pt x="816707" y="6199945"/>
                  <a:pt x="752743" y="6114575"/>
                  <a:pt x="645167" y="6100347"/>
                </a:cubicBezTo>
                <a:cubicBezTo>
                  <a:pt x="665519" y="6036320"/>
                  <a:pt x="700408" y="6043434"/>
                  <a:pt x="732391" y="6057663"/>
                </a:cubicBezTo>
                <a:cubicBezTo>
                  <a:pt x="816707" y="6093234"/>
                  <a:pt x="901023" y="6132361"/>
                  <a:pt x="985339" y="6167932"/>
                </a:cubicBezTo>
                <a:cubicBezTo>
                  <a:pt x="1040581" y="6189274"/>
                  <a:pt x="1095822" y="6221287"/>
                  <a:pt x="1168509" y="6196388"/>
                </a:cubicBezTo>
                <a:cubicBezTo>
                  <a:pt x="1104545" y="6068335"/>
                  <a:pt x="996969" y="6043434"/>
                  <a:pt x="909746" y="6004307"/>
                </a:cubicBezTo>
                <a:cubicBezTo>
                  <a:pt x="802169" y="5954508"/>
                  <a:pt x="738206" y="5862025"/>
                  <a:pt x="659704" y="5755314"/>
                </a:cubicBezTo>
                <a:cubicBezTo>
                  <a:pt x="738206" y="5726858"/>
                  <a:pt x="787632" y="5805112"/>
                  <a:pt x="851597" y="5801555"/>
                </a:cubicBezTo>
                <a:cubicBezTo>
                  <a:pt x="854504" y="5790884"/>
                  <a:pt x="860319" y="5769542"/>
                  <a:pt x="860319" y="5769542"/>
                </a:cubicBezTo>
                <a:cubicBezTo>
                  <a:pt x="755650" y="5712629"/>
                  <a:pt x="709132" y="5605917"/>
                  <a:pt x="691686" y="5474306"/>
                </a:cubicBezTo>
                <a:cubicBezTo>
                  <a:pt x="685872" y="5406721"/>
                  <a:pt x="648075" y="5385379"/>
                  <a:pt x="610278" y="5353367"/>
                </a:cubicBezTo>
                <a:cubicBezTo>
                  <a:pt x="482350" y="5243097"/>
                  <a:pt x="345700" y="5143500"/>
                  <a:pt x="238123" y="4994104"/>
                </a:cubicBezTo>
                <a:cubicBezTo>
                  <a:pt x="363144" y="5011889"/>
                  <a:pt x="461997" y="5111487"/>
                  <a:pt x="592833" y="5154171"/>
                </a:cubicBezTo>
                <a:cubicBezTo>
                  <a:pt x="488165" y="4990547"/>
                  <a:pt x="351514" y="4905177"/>
                  <a:pt x="226494" y="4805580"/>
                </a:cubicBezTo>
                <a:cubicBezTo>
                  <a:pt x="168344" y="4759339"/>
                  <a:pt x="116011" y="4702425"/>
                  <a:pt x="49139" y="4677526"/>
                </a:cubicBezTo>
                <a:cubicBezTo>
                  <a:pt x="25879" y="4670412"/>
                  <a:pt x="-14826" y="4652628"/>
                  <a:pt x="5527" y="4602828"/>
                </a:cubicBezTo>
                <a:cubicBezTo>
                  <a:pt x="22972" y="4560144"/>
                  <a:pt x="54954" y="4574373"/>
                  <a:pt x="84029" y="4585042"/>
                </a:cubicBezTo>
                <a:cubicBezTo>
                  <a:pt x="153807" y="4613499"/>
                  <a:pt x="229401" y="4613499"/>
                  <a:pt x="325347" y="4613499"/>
                </a:cubicBezTo>
                <a:cubicBezTo>
                  <a:pt x="243939" y="4478331"/>
                  <a:pt x="95658" y="4521016"/>
                  <a:pt x="25879" y="4378734"/>
                </a:cubicBezTo>
                <a:cubicBezTo>
                  <a:pt x="113103" y="4353835"/>
                  <a:pt x="179975" y="4403633"/>
                  <a:pt x="249753" y="4414305"/>
                </a:cubicBezTo>
                <a:cubicBezTo>
                  <a:pt x="313718" y="4424975"/>
                  <a:pt x="328254" y="4400076"/>
                  <a:pt x="313718" y="4321821"/>
                </a:cubicBezTo>
                <a:cubicBezTo>
                  <a:pt x="290458" y="4200882"/>
                  <a:pt x="325347" y="4140411"/>
                  <a:pt x="418386" y="4172424"/>
                </a:cubicBezTo>
                <a:cubicBezTo>
                  <a:pt x="505609" y="4204438"/>
                  <a:pt x="514332" y="4158196"/>
                  <a:pt x="491072" y="4090612"/>
                </a:cubicBezTo>
                <a:cubicBezTo>
                  <a:pt x="456183" y="3991015"/>
                  <a:pt x="493979" y="3912759"/>
                  <a:pt x="520147" y="3827390"/>
                </a:cubicBezTo>
                <a:cubicBezTo>
                  <a:pt x="560851" y="3699337"/>
                  <a:pt x="543407" y="3635309"/>
                  <a:pt x="459090" y="3539269"/>
                </a:cubicBezTo>
                <a:cubicBezTo>
                  <a:pt x="409664" y="3485914"/>
                  <a:pt x="360236" y="3439672"/>
                  <a:pt x="290458" y="3393429"/>
                </a:cubicBezTo>
                <a:cubicBezTo>
                  <a:pt x="450368" y="3368530"/>
                  <a:pt x="284643" y="3283162"/>
                  <a:pt x="339884" y="3229805"/>
                </a:cubicBezTo>
                <a:cubicBezTo>
                  <a:pt x="453275" y="3208463"/>
                  <a:pt x="543407" y="3379202"/>
                  <a:pt x="697501" y="3329402"/>
                </a:cubicBezTo>
                <a:cubicBezTo>
                  <a:pt x="511425" y="3183563"/>
                  <a:pt x="302087" y="3137322"/>
                  <a:pt x="165437" y="2941684"/>
                </a:cubicBezTo>
                <a:cubicBezTo>
                  <a:pt x="197419" y="2899000"/>
                  <a:pt x="229401" y="2941684"/>
                  <a:pt x="255568" y="2923898"/>
                </a:cubicBezTo>
                <a:cubicBezTo>
                  <a:pt x="255568" y="2913227"/>
                  <a:pt x="560851" y="2980812"/>
                  <a:pt x="578296" y="2703362"/>
                </a:cubicBezTo>
                <a:cubicBezTo>
                  <a:pt x="584111" y="2703362"/>
                  <a:pt x="589926" y="2703362"/>
                  <a:pt x="595740" y="2692689"/>
                </a:cubicBezTo>
                <a:cubicBezTo>
                  <a:pt x="627722" y="2653563"/>
                  <a:pt x="598648" y="2561080"/>
                  <a:pt x="650982" y="2553965"/>
                </a:cubicBezTo>
                <a:cubicBezTo>
                  <a:pt x="709132" y="2546851"/>
                  <a:pt x="764373" y="2514837"/>
                  <a:pt x="825429" y="2532623"/>
                </a:cubicBezTo>
                <a:cubicBezTo>
                  <a:pt x="871949" y="2546851"/>
                  <a:pt x="921375" y="2564636"/>
                  <a:pt x="970802" y="2564636"/>
                </a:cubicBezTo>
                <a:cubicBezTo>
                  <a:pt x="1023136" y="2564636"/>
                  <a:pt x="1095822" y="2685576"/>
                  <a:pt x="1127805" y="2525509"/>
                </a:cubicBezTo>
                <a:cubicBezTo>
                  <a:pt x="1127805" y="2518395"/>
                  <a:pt x="1217936" y="2536181"/>
                  <a:pt x="1267362" y="2543294"/>
                </a:cubicBezTo>
                <a:cubicBezTo>
                  <a:pt x="1308067" y="2550408"/>
                  <a:pt x="1357494" y="2582422"/>
                  <a:pt x="1386568" y="2518395"/>
                </a:cubicBezTo>
                <a:cubicBezTo>
                  <a:pt x="1401105" y="2479267"/>
                  <a:pt x="1331326" y="2408126"/>
                  <a:pt x="1270270" y="2401012"/>
                </a:cubicBezTo>
                <a:cubicBezTo>
                  <a:pt x="1215029" y="2393898"/>
                  <a:pt x="1159787" y="2386784"/>
                  <a:pt x="1107453" y="2401012"/>
                </a:cubicBezTo>
                <a:cubicBezTo>
                  <a:pt x="1043489" y="2418796"/>
                  <a:pt x="1008599" y="2390340"/>
                  <a:pt x="991154" y="2326314"/>
                </a:cubicBezTo>
                <a:cubicBezTo>
                  <a:pt x="970802" y="2258731"/>
                  <a:pt x="933005" y="2223159"/>
                  <a:pt x="880671" y="2191146"/>
                </a:cubicBezTo>
                <a:cubicBezTo>
                  <a:pt x="752743" y="2112891"/>
                  <a:pt x="630630" y="2020407"/>
                  <a:pt x="491072" y="1974165"/>
                </a:cubicBezTo>
                <a:cubicBezTo>
                  <a:pt x="464905" y="1967051"/>
                  <a:pt x="432923" y="1952823"/>
                  <a:pt x="421293" y="1892353"/>
                </a:cubicBezTo>
                <a:cubicBezTo>
                  <a:pt x="799262" y="1984836"/>
                  <a:pt x="1142342" y="2223159"/>
                  <a:pt x="1531941" y="2208931"/>
                </a:cubicBezTo>
                <a:cubicBezTo>
                  <a:pt x="1427272" y="2134233"/>
                  <a:pt x="1302252" y="2130676"/>
                  <a:pt x="1188861" y="2077320"/>
                </a:cubicBezTo>
                <a:cubicBezTo>
                  <a:pt x="1270270" y="2038192"/>
                  <a:pt x="1345864" y="2080877"/>
                  <a:pt x="1421458" y="2102219"/>
                </a:cubicBezTo>
                <a:cubicBezTo>
                  <a:pt x="1485422" y="2120004"/>
                  <a:pt x="1543571" y="2123562"/>
                  <a:pt x="1549386" y="2013292"/>
                </a:cubicBezTo>
                <a:cubicBezTo>
                  <a:pt x="1549386" y="2002622"/>
                  <a:pt x="1549386" y="1995507"/>
                  <a:pt x="1549386" y="1984836"/>
                </a:cubicBezTo>
                <a:cubicBezTo>
                  <a:pt x="1526126" y="1938595"/>
                  <a:pt x="1494144" y="1917252"/>
                  <a:pt x="1453440" y="1903025"/>
                </a:cubicBezTo>
                <a:cubicBezTo>
                  <a:pt x="1430180" y="1895910"/>
                  <a:pt x="1398198" y="1881683"/>
                  <a:pt x="1398198" y="1849668"/>
                </a:cubicBezTo>
                <a:cubicBezTo>
                  <a:pt x="1401105" y="1728729"/>
                  <a:pt x="1322604" y="1693158"/>
                  <a:pt x="1247011" y="1657587"/>
                </a:cubicBezTo>
                <a:cubicBezTo>
                  <a:pt x="1287715" y="1597117"/>
                  <a:pt x="1322604" y="1639802"/>
                  <a:pt x="1354586" y="1636245"/>
                </a:cubicBezTo>
                <a:cubicBezTo>
                  <a:pt x="1374939" y="1632688"/>
                  <a:pt x="1395290" y="1629132"/>
                  <a:pt x="1395290" y="1597117"/>
                </a:cubicBezTo>
                <a:cubicBezTo>
                  <a:pt x="1395290" y="1572219"/>
                  <a:pt x="1386568" y="1540204"/>
                  <a:pt x="1366216" y="1540204"/>
                </a:cubicBezTo>
                <a:cubicBezTo>
                  <a:pt x="1238288" y="1536647"/>
                  <a:pt x="1165601" y="1365909"/>
                  <a:pt x="1031858" y="1365909"/>
                </a:cubicBezTo>
                <a:cubicBezTo>
                  <a:pt x="950450" y="1365909"/>
                  <a:pt x="1072563" y="1269868"/>
                  <a:pt x="1005692" y="1230741"/>
                </a:cubicBezTo>
                <a:cubicBezTo>
                  <a:pt x="991154" y="1220069"/>
                  <a:pt x="1046396" y="1205842"/>
                  <a:pt x="1069655" y="1209399"/>
                </a:cubicBezTo>
                <a:cubicBezTo>
                  <a:pt x="1092915" y="1212955"/>
                  <a:pt x="1113268" y="1237855"/>
                  <a:pt x="1142342" y="1220069"/>
                </a:cubicBezTo>
                <a:cubicBezTo>
                  <a:pt x="1156879" y="1156043"/>
                  <a:pt x="1119082" y="1131144"/>
                  <a:pt x="1084193" y="1113358"/>
                </a:cubicBezTo>
                <a:cubicBezTo>
                  <a:pt x="1008599" y="1070674"/>
                  <a:pt x="933005" y="1020875"/>
                  <a:pt x="848689" y="1006647"/>
                </a:cubicBezTo>
                <a:cubicBezTo>
                  <a:pt x="819615" y="1003089"/>
                  <a:pt x="802169" y="985305"/>
                  <a:pt x="805077" y="949734"/>
                </a:cubicBezTo>
                <a:cubicBezTo>
                  <a:pt x="810892" y="903491"/>
                  <a:pt x="839967" y="917720"/>
                  <a:pt x="863226" y="921277"/>
                </a:cubicBezTo>
                <a:cubicBezTo>
                  <a:pt x="877764" y="924835"/>
                  <a:pt x="892301" y="935506"/>
                  <a:pt x="906838" y="910606"/>
                </a:cubicBezTo>
                <a:cubicBezTo>
                  <a:pt x="566666" y="658055"/>
                  <a:pt x="386404" y="672284"/>
                  <a:pt x="5527" y="465975"/>
                </a:cubicBezTo>
                <a:cubicBezTo>
                  <a:pt x="89843" y="426847"/>
                  <a:pt x="150900" y="455303"/>
                  <a:pt x="209049" y="462417"/>
                </a:cubicBezTo>
                <a:cubicBezTo>
                  <a:pt x="354422" y="480203"/>
                  <a:pt x="264290" y="512216"/>
                  <a:pt x="409664" y="533558"/>
                </a:cubicBezTo>
                <a:cubicBezTo>
                  <a:pt x="479443" y="544229"/>
                  <a:pt x="543407" y="579800"/>
                  <a:pt x="621908" y="522887"/>
                </a:cubicBezTo>
                <a:cubicBezTo>
                  <a:pt x="674242" y="483759"/>
                  <a:pt x="758558" y="526444"/>
                  <a:pt x="822522" y="558458"/>
                </a:cubicBezTo>
                <a:cubicBezTo>
                  <a:pt x="874856" y="586915"/>
                  <a:pt x="927190" y="594028"/>
                  <a:pt x="996969" y="558458"/>
                </a:cubicBezTo>
                <a:cubicBezTo>
                  <a:pt x="933005" y="537116"/>
                  <a:pt x="883579" y="519330"/>
                  <a:pt x="834151" y="505101"/>
                </a:cubicBezTo>
                <a:cubicBezTo>
                  <a:pt x="793447" y="494431"/>
                  <a:pt x="770187" y="469532"/>
                  <a:pt x="773095" y="416176"/>
                </a:cubicBezTo>
                <a:cubicBezTo>
                  <a:pt x="773095" y="387720"/>
                  <a:pt x="764373" y="348592"/>
                  <a:pt x="793447" y="334364"/>
                </a:cubicBezTo>
                <a:cubicBezTo>
                  <a:pt x="816707" y="320135"/>
                  <a:pt x="848689" y="334364"/>
                  <a:pt x="860319" y="359262"/>
                </a:cubicBezTo>
                <a:cubicBezTo>
                  <a:pt x="874856" y="405504"/>
                  <a:pt x="889393" y="448189"/>
                  <a:pt x="938820" y="451747"/>
                </a:cubicBezTo>
                <a:cubicBezTo>
                  <a:pt x="1005692" y="458860"/>
                  <a:pt x="967894" y="430405"/>
                  <a:pt x="956265" y="394834"/>
                </a:cubicBezTo>
                <a:cubicBezTo>
                  <a:pt x="944635" y="355706"/>
                  <a:pt x="979525" y="345034"/>
                  <a:pt x="1002784" y="352148"/>
                </a:cubicBezTo>
                <a:cubicBezTo>
                  <a:pt x="1090008" y="384162"/>
                  <a:pt x="1180139" y="327250"/>
                  <a:pt x="1270270" y="373491"/>
                </a:cubicBezTo>
                <a:cubicBezTo>
                  <a:pt x="1247011" y="259665"/>
                  <a:pt x="1197583" y="209867"/>
                  <a:pt x="1092915" y="192082"/>
                </a:cubicBezTo>
                <a:cubicBezTo>
                  <a:pt x="1055118" y="188525"/>
                  <a:pt x="1014414" y="195638"/>
                  <a:pt x="979525" y="163625"/>
                </a:cubicBezTo>
                <a:cubicBezTo>
                  <a:pt x="959172" y="145839"/>
                  <a:pt x="938820" y="124497"/>
                  <a:pt x="953358" y="88927"/>
                </a:cubicBezTo>
                <a:cubicBezTo>
                  <a:pt x="962080" y="64027"/>
                  <a:pt x="985339" y="64027"/>
                  <a:pt x="1005692" y="71141"/>
                </a:cubicBezTo>
                <a:cubicBezTo>
                  <a:pt x="1090008" y="110269"/>
                  <a:pt x="1180139" y="120941"/>
                  <a:pt x="1267362" y="135168"/>
                </a:cubicBezTo>
                <a:cubicBezTo>
                  <a:pt x="1281900" y="138725"/>
                  <a:pt x="1296437" y="145839"/>
                  <a:pt x="1310975" y="110269"/>
                </a:cubicBezTo>
                <a:cubicBezTo>
                  <a:pt x="1209214" y="78255"/>
                  <a:pt x="1110360" y="35571"/>
                  <a:pt x="1008599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C49080-693E-9DF3-453E-7A1BB9D4C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484" y="1065749"/>
            <a:ext cx="3748810" cy="4726502"/>
          </a:xfrm>
        </p:spPr>
        <p:txBody>
          <a:bodyPr>
            <a:normAutofit/>
          </a:bodyPr>
          <a:lstStyle/>
          <a:p>
            <a:r>
              <a:rPr lang="sr-Latn-RS" sz="3700"/>
              <a:t>5. </a:t>
            </a:r>
            <a:r>
              <a:rPr lang="en-GB" sz="3700"/>
              <a:t>Reactivation Works; Active Customer Journeys Are Underperforming</a:t>
            </a:r>
            <a:endParaRPr lang="en-US" sz="3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81506-5BC9-2CB2-2311-A37742FE8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713313"/>
            <a:ext cx="4953000" cy="5431376"/>
          </a:xfrm>
        </p:spPr>
        <p:txBody>
          <a:bodyPr anchor="ctr">
            <a:normAutofit/>
          </a:bodyPr>
          <a:lstStyle/>
          <a:p>
            <a:r>
              <a:rPr lang="en-GB" sz="2000"/>
              <a:t>Incremental revenue:</a:t>
            </a:r>
          </a:p>
          <a:p>
            <a:pPr marL="0" indent="0">
              <a:buNone/>
            </a:pPr>
            <a:r>
              <a:rPr lang="sr-Latn-RS" sz="2000" b="1"/>
              <a:t>	</a:t>
            </a:r>
            <a:r>
              <a:rPr lang="en-GB" sz="2000" b="1"/>
              <a:t>Non-Active: +1,190</a:t>
            </a:r>
            <a:endParaRPr lang="en-GB" sz="2000"/>
          </a:p>
          <a:p>
            <a:pPr marL="0" indent="0">
              <a:buNone/>
            </a:pPr>
            <a:r>
              <a:rPr lang="sr-Latn-RS" sz="2000" b="1"/>
              <a:t>	</a:t>
            </a:r>
            <a:r>
              <a:rPr lang="en-GB" sz="2000" b="1"/>
              <a:t>Active: +431</a:t>
            </a:r>
            <a:endParaRPr lang="en-GB" sz="2000"/>
          </a:p>
          <a:p>
            <a:r>
              <a:rPr lang="en-GB" sz="2000"/>
              <a:t>Incremental transactions:</a:t>
            </a:r>
          </a:p>
          <a:p>
            <a:pPr marL="0" indent="0">
              <a:buNone/>
            </a:pPr>
            <a:r>
              <a:rPr lang="sr-Latn-RS" sz="2000" b="1"/>
              <a:t>	</a:t>
            </a:r>
            <a:r>
              <a:rPr lang="en-GB" sz="2000" b="1"/>
              <a:t>Non-Active: +31</a:t>
            </a:r>
            <a:endParaRPr lang="en-GB" sz="2000"/>
          </a:p>
          <a:p>
            <a:pPr marL="0" indent="0">
              <a:buNone/>
            </a:pPr>
            <a:r>
              <a:rPr lang="sr-Latn-RS" sz="2000" b="1"/>
              <a:t>	</a:t>
            </a:r>
            <a:r>
              <a:rPr lang="en-GB" sz="2000" b="1"/>
              <a:t>Active: −34</a:t>
            </a:r>
            <a:endParaRPr lang="en-GB" sz="2000"/>
          </a:p>
          <a:p>
            <a:r>
              <a:rPr lang="en-GB" sz="2000"/>
              <a:t>Reactivation mechanics work.</a:t>
            </a:r>
            <a:br>
              <a:rPr lang="en-GB" sz="2000"/>
            </a:br>
            <a:r>
              <a:rPr lang="en-GB" sz="2000"/>
              <a:t>Active customer messaging likely suppresses transactions and must be redesigned.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808108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A0D747-F38B-4A99-9985-62CE8C247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1BF32B-6CA3-4695-8A0C-1AC789B58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5277870" cy="6858000"/>
          </a:xfrm>
          <a:custGeom>
            <a:avLst/>
            <a:gdLst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0 w 5434004"/>
              <a:gd name="connsiteY4" fmla="*/ 6857998 h 6858000"/>
              <a:gd name="connsiteX5" fmla="*/ 1049407 w 5434004"/>
              <a:gd name="connsiteY5" fmla="*/ 6857998 h 6858000"/>
              <a:gd name="connsiteX6" fmla="*/ 1033092 w 5434004"/>
              <a:gd name="connsiteY6" fmla="*/ 6843615 h 6858000"/>
              <a:gd name="connsiteX7" fmla="*/ 1004585 w 5434004"/>
              <a:gd name="connsiteY7" fmla="*/ 6800899 h 6858000"/>
              <a:gd name="connsiteX8" fmla="*/ 984086 w 5434004"/>
              <a:gd name="connsiteY8" fmla="*/ 6765441 h 6858000"/>
              <a:gd name="connsiteX9" fmla="*/ 955964 w 5434004"/>
              <a:gd name="connsiteY9" fmla="*/ 6739541 h 6858000"/>
              <a:gd name="connsiteX10" fmla="*/ 945820 w 5434004"/>
              <a:gd name="connsiteY10" fmla="*/ 6673829 h 6858000"/>
              <a:gd name="connsiteX11" fmla="*/ 921540 w 5434004"/>
              <a:gd name="connsiteY11" fmla="*/ 6620155 h 6858000"/>
              <a:gd name="connsiteX12" fmla="*/ 876436 w 5434004"/>
              <a:gd name="connsiteY12" fmla="*/ 6610437 h 6858000"/>
              <a:gd name="connsiteX13" fmla="*/ 876973 w 5434004"/>
              <a:gd name="connsiteY13" fmla="*/ 6596307 h 6858000"/>
              <a:gd name="connsiteX14" fmla="*/ 893782 w 5434004"/>
              <a:gd name="connsiteY14" fmla="*/ 6536039 h 6858000"/>
              <a:gd name="connsiteX15" fmla="*/ 830281 w 5434004"/>
              <a:gd name="connsiteY15" fmla="*/ 6239239 h 6858000"/>
              <a:gd name="connsiteX16" fmla="*/ 816373 w 5434004"/>
              <a:gd name="connsiteY16" fmla="*/ 6116986 h 6858000"/>
              <a:gd name="connsiteX17" fmla="*/ 788606 w 5434004"/>
              <a:gd name="connsiteY17" fmla="*/ 5895434 h 6858000"/>
              <a:gd name="connsiteX18" fmla="*/ 762315 w 5434004"/>
              <a:gd name="connsiteY18" fmla="*/ 5848019 h 6858000"/>
              <a:gd name="connsiteX19" fmla="*/ 714842 w 5434004"/>
              <a:gd name="connsiteY19" fmla="*/ 5722306 h 6858000"/>
              <a:gd name="connsiteX20" fmla="*/ 679500 w 5434004"/>
              <a:gd name="connsiteY20" fmla="*/ 5528085 h 6858000"/>
              <a:gd name="connsiteX21" fmla="*/ 660956 w 5434004"/>
              <a:gd name="connsiteY21" fmla="*/ 5506768 h 6858000"/>
              <a:gd name="connsiteX22" fmla="*/ 642957 w 5434004"/>
              <a:gd name="connsiteY22" fmla="*/ 5473318 h 6858000"/>
              <a:gd name="connsiteX23" fmla="*/ 602099 w 5434004"/>
              <a:gd name="connsiteY23" fmla="*/ 5418521 h 6858000"/>
              <a:gd name="connsiteX24" fmla="*/ 563009 w 5434004"/>
              <a:gd name="connsiteY24" fmla="*/ 5337536 h 6858000"/>
              <a:gd name="connsiteX25" fmla="*/ 584675 w 5434004"/>
              <a:gd name="connsiteY25" fmla="*/ 5255190 h 6858000"/>
              <a:gd name="connsiteX26" fmla="*/ 564878 w 5434004"/>
              <a:gd name="connsiteY26" fmla="*/ 5208171 h 6858000"/>
              <a:gd name="connsiteX27" fmla="*/ 540145 w 5434004"/>
              <a:gd name="connsiteY27" fmla="*/ 4993731 h 6858000"/>
              <a:gd name="connsiteX28" fmla="*/ 512099 w 5434004"/>
              <a:gd name="connsiteY28" fmla="*/ 4896399 h 6858000"/>
              <a:gd name="connsiteX29" fmla="*/ 482378 w 5434004"/>
              <a:gd name="connsiteY29" fmla="*/ 4838613 h 6858000"/>
              <a:gd name="connsiteX30" fmla="*/ 468676 w 5434004"/>
              <a:gd name="connsiteY30" fmla="*/ 4796522 h 6858000"/>
              <a:gd name="connsiteX31" fmla="*/ 430881 w 5434004"/>
              <a:gd name="connsiteY31" fmla="*/ 4672370 h 6858000"/>
              <a:gd name="connsiteX32" fmla="*/ 415292 w 5434004"/>
              <a:gd name="connsiteY32" fmla="*/ 4634253 h 6858000"/>
              <a:gd name="connsiteX33" fmla="*/ 348919 w 5434004"/>
              <a:gd name="connsiteY33" fmla="*/ 4549232 h 6858000"/>
              <a:gd name="connsiteX34" fmla="*/ 292438 w 5434004"/>
              <a:gd name="connsiteY34" fmla="*/ 4479912 h 6858000"/>
              <a:gd name="connsiteX35" fmla="*/ 283567 w 5434004"/>
              <a:gd name="connsiteY35" fmla="*/ 4376609 h 6858000"/>
              <a:gd name="connsiteX36" fmla="*/ 247018 w 5434004"/>
              <a:gd name="connsiteY36" fmla="*/ 4280257 h 6858000"/>
              <a:gd name="connsiteX37" fmla="*/ 243154 w 5434004"/>
              <a:gd name="connsiteY37" fmla="*/ 4208492 h 6858000"/>
              <a:gd name="connsiteX38" fmla="*/ 267243 w 5434004"/>
              <a:gd name="connsiteY38" fmla="*/ 4120636 h 6858000"/>
              <a:gd name="connsiteX39" fmla="*/ 274676 w 5434004"/>
              <a:gd name="connsiteY39" fmla="*/ 4116556 h 6858000"/>
              <a:gd name="connsiteX40" fmla="*/ 274016 w 5434004"/>
              <a:gd name="connsiteY40" fmla="*/ 4109625 h 6858000"/>
              <a:gd name="connsiteX41" fmla="*/ 266711 w 5434004"/>
              <a:gd name="connsiteY41" fmla="*/ 4105624 h 6858000"/>
              <a:gd name="connsiteX42" fmla="*/ 267360 w 5434004"/>
              <a:gd name="connsiteY42" fmla="*/ 4051441 h 6858000"/>
              <a:gd name="connsiteX43" fmla="*/ 280863 w 5434004"/>
              <a:gd name="connsiteY43" fmla="*/ 3988494 h 6858000"/>
              <a:gd name="connsiteX44" fmla="*/ 254473 w 5434004"/>
              <a:gd name="connsiteY44" fmla="*/ 3926485 h 6858000"/>
              <a:gd name="connsiteX45" fmla="*/ 238942 w 5434004"/>
              <a:gd name="connsiteY45" fmla="*/ 3857057 h 6858000"/>
              <a:gd name="connsiteX46" fmla="*/ 229388 w 5434004"/>
              <a:gd name="connsiteY46" fmla="*/ 3815650 h 6858000"/>
              <a:gd name="connsiteX47" fmla="*/ 224025 w 5434004"/>
              <a:gd name="connsiteY47" fmla="*/ 3696745 h 6858000"/>
              <a:gd name="connsiteX48" fmla="*/ 242028 w 5434004"/>
              <a:gd name="connsiteY48" fmla="*/ 3477814 h 6858000"/>
              <a:gd name="connsiteX49" fmla="*/ 239663 w 5434004"/>
              <a:gd name="connsiteY49" fmla="*/ 3375354 h 6858000"/>
              <a:gd name="connsiteX50" fmla="*/ 242939 w 5434004"/>
              <a:gd name="connsiteY50" fmla="*/ 3235494 h 6858000"/>
              <a:gd name="connsiteX51" fmla="*/ 235466 w 5434004"/>
              <a:gd name="connsiteY51" fmla="*/ 3111896 h 6858000"/>
              <a:gd name="connsiteX52" fmla="*/ 225859 w 5434004"/>
              <a:gd name="connsiteY52" fmla="*/ 3061665 h 6858000"/>
              <a:gd name="connsiteX53" fmla="*/ 214543 w 5434004"/>
              <a:gd name="connsiteY53" fmla="*/ 3026187 h 6858000"/>
              <a:gd name="connsiteX54" fmla="*/ 209002 w 5434004"/>
              <a:gd name="connsiteY54" fmla="*/ 2930097 h 6858000"/>
              <a:gd name="connsiteX55" fmla="*/ 209539 w 5434004"/>
              <a:gd name="connsiteY55" fmla="*/ 2768399 h 6858000"/>
              <a:gd name="connsiteX56" fmla="*/ 207490 w 5434004"/>
              <a:gd name="connsiteY56" fmla="*/ 2734615 h 6858000"/>
              <a:gd name="connsiteX57" fmla="*/ 197130 w 5434004"/>
              <a:gd name="connsiteY57" fmla="*/ 2708116 h 6858000"/>
              <a:gd name="connsiteX58" fmla="*/ 187231 w 5434004"/>
              <a:gd name="connsiteY58" fmla="*/ 2704185 h 6858000"/>
              <a:gd name="connsiteX59" fmla="*/ 184723 w 5434004"/>
              <a:gd name="connsiteY59" fmla="*/ 2686011 h 6858000"/>
              <a:gd name="connsiteX60" fmla="*/ 169929 w 5434004"/>
              <a:gd name="connsiteY60" fmla="*/ 2656504 h 6858000"/>
              <a:gd name="connsiteX61" fmla="*/ 188242 w 5434004"/>
              <a:gd name="connsiteY61" fmla="*/ 2589493 h 6858000"/>
              <a:gd name="connsiteX62" fmla="*/ 189125 w 5434004"/>
              <a:gd name="connsiteY62" fmla="*/ 2457617 h 6858000"/>
              <a:gd name="connsiteX63" fmla="*/ 195205 w 5434004"/>
              <a:gd name="connsiteY63" fmla="*/ 2210817 h 6858000"/>
              <a:gd name="connsiteX64" fmla="*/ 175797 w 5434004"/>
              <a:gd name="connsiteY64" fmla="*/ 1901521 h 6858000"/>
              <a:gd name="connsiteX65" fmla="*/ 156134 w 5434004"/>
              <a:gd name="connsiteY65" fmla="*/ 1700722 h 6858000"/>
              <a:gd name="connsiteX66" fmla="*/ 174157 w 5434004"/>
              <a:gd name="connsiteY66" fmla="*/ 1661610 h 6858000"/>
              <a:gd name="connsiteX67" fmla="*/ 180802 w 5434004"/>
              <a:gd name="connsiteY67" fmla="*/ 1640073 h 6858000"/>
              <a:gd name="connsiteX68" fmla="*/ 179221 w 5434004"/>
              <a:gd name="connsiteY68" fmla="*/ 1637398 h 6858000"/>
              <a:gd name="connsiteX69" fmla="*/ 179826 w 5434004"/>
              <a:gd name="connsiteY69" fmla="*/ 1612248 h 6858000"/>
              <a:gd name="connsiteX70" fmla="*/ 198048 w 5434004"/>
              <a:gd name="connsiteY70" fmla="*/ 1498097 h 6858000"/>
              <a:gd name="connsiteX71" fmla="*/ 196329 w 5434004"/>
              <a:gd name="connsiteY71" fmla="*/ 1497364 h 6858000"/>
              <a:gd name="connsiteX72" fmla="*/ 193204 w 5434004"/>
              <a:gd name="connsiteY72" fmla="*/ 1490042 h 6858000"/>
              <a:gd name="connsiteX73" fmla="*/ 211154 w 5434004"/>
              <a:gd name="connsiteY73" fmla="*/ 1451416 h 6858000"/>
              <a:gd name="connsiteX74" fmla="*/ 247750 w 5434004"/>
              <a:gd name="connsiteY74" fmla="*/ 1281781 h 6858000"/>
              <a:gd name="connsiteX75" fmla="*/ 323114 w 5434004"/>
              <a:gd name="connsiteY75" fmla="*/ 1074754 h 6858000"/>
              <a:gd name="connsiteX76" fmla="*/ 357209 w 5434004"/>
              <a:gd name="connsiteY76" fmla="*/ 1019094 h 6858000"/>
              <a:gd name="connsiteX77" fmla="*/ 393176 w 5434004"/>
              <a:gd name="connsiteY77" fmla="*/ 938921 h 6858000"/>
              <a:gd name="connsiteX78" fmla="*/ 451503 w 5434004"/>
              <a:gd name="connsiteY78" fmla="*/ 815814 h 6858000"/>
              <a:gd name="connsiteX79" fmla="*/ 567587 w 5434004"/>
              <a:gd name="connsiteY79" fmla="*/ 584070 h 6858000"/>
              <a:gd name="connsiteX80" fmla="*/ 592609 w 5434004"/>
              <a:gd name="connsiteY80" fmla="*/ 461805 h 6858000"/>
              <a:gd name="connsiteX81" fmla="*/ 624563 w 5434004"/>
              <a:gd name="connsiteY81" fmla="*/ 360945 h 6858000"/>
              <a:gd name="connsiteX82" fmla="*/ 627056 w 5434004"/>
              <a:gd name="connsiteY82" fmla="*/ 226335 h 6858000"/>
              <a:gd name="connsiteX83" fmla="*/ 655851 w 5434004"/>
              <a:gd name="connsiteY83" fmla="*/ 51690 h 6858000"/>
              <a:gd name="connsiteX84" fmla="*/ 653984 w 5434004"/>
              <a:gd name="connsiteY84" fmla="*/ 22133 h 6858000"/>
              <a:gd name="connsiteX85" fmla="*/ 643279 w 5434004"/>
              <a:gd name="connsiteY85" fmla="*/ 1037 h 6858000"/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1049407 w 5434004"/>
              <a:gd name="connsiteY4" fmla="*/ 6857998 h 6858000"/>
              <a:gd name="connsiteX5" fmla="*/ 1033092 w 5434004"/>
              <a:gd name="connsiteY5" fmla="*/ 6843615 h 6858000"/>
              <a:gd name="connsiteX6" fmla="*/ 1004585 w 5434004"/>
              <a:gd name="connsiteY6" fmla="*/ 6800899 h 6858000"/>
              <a:gd name="connsiteX7" fmla="*/ 984086 w 5434004"/>
              <a:gd name="connsiteY7" fmla="*/ 6765441 h 6858000"/>
              <a:gd name="connsiteX8" fmla="*/ 955964 w 5434004"/>
              <a:gd name="connsiteY8" fmla="*/ 6739541 h 6858000"/>
              <a:gd name="connsiteX9" fmla="*/ 945820 w 5434004"/>
              <a:gd name="connsiteY9" fmla="*/ 6673829 h 6858000"/>
              <a:gd name="connsiteX10" fmla="*/ 921540 w 5434004"/>
              <a:gd name="connsiteY10" fmla="*/ 6620155 h 6858000"/>
              <a:gd name="connsiteX11" fmla="*/ 876436 w 5434004"/>
              <a:gd name="connsiteY11" fmla="*/ 6610437 h 6858000"/>
              <a:gd name="connsiteX12" fmla="*/ 876973 w 5434004"/>
              <a:gd name="connsiteY12" fmla="*/ 6596307 h 6858000"/>
              <a:gd name="connsiteX13" fmla="*/ 893782 w 5434004"/>
              <a:gd name="connsiteY13" fmla="*/ 6536039 h 6858000"/>
              <a:gd name="connsiteX14" fmla="*/ 830281 w 5434004"/>
              <a:gd name="connsiteY14" fmla="*/ 6239239 h 6858000"/>
              <a:gd name="connsiteX15" fmla="*/ 816373 w 5434004"/>
              <a:gd name="connsiteY15" fmla="*/ 6116986 h 6858000"/>
              <a:gd name="connsiteX16" fmla="*/ 788606 w 5434004"/>
              <a:gd name="connsiteY16" fmla="*/ 5895434 h 6858000"/>
              <a:gd name="connsiteX17" fmla="*/ 762315 w 5434004"/>
              <a:gd name="connsiteY17" fmla="*/ 5848019 h 6858000"/>
              <a:gd name="connsiteX18" fmla="*/ 714842 w 5434004"/>
              <a:gd name="connsiteY18" fmla="*/ 5722306 h 6858000"/>
              <a:gd name="connsiteX19" fmla="*/ 679500 w 5434004"/>
              <a:gd name="connsiteY19" fmla="*/ 5528085 h 6858000"/>
              <a:gd name="connsiteX20" fmla="*/ 660956 w 5434004"/>
              <a:gd name="connsiteY20" fmla="*/ 5506768 h 6858000"/>
              <a:gd name="connsiteX21" fmla="*/ 642957 w 5434004"/>
              <a:gd name="connsiteY21" fmla="*/ 5473318 h 6858000"/>
              <a:gd name="connsiteX22" fmla="*/ 602099 w 5434004"/>
              <a:gd name="connsiteY22" fmla="*/ 5418521 h 6858000"/>
              <a:gd name="connsiteX23" fmla="*/ 563009 w 5434004"/>
              <a:gd name="connsiteY23" fmla="*/ 5337536 h 6858000"/>
              <a:gd name="connsiteX24" fmla="*/ 584675 w 5434004"/>
              <a:gd name="connsiteY24" fmla="*/ 5255190 h 6858000"/>
              <a:gd name="connsiteX25" fmla="*/ 564878 w 5434004"/>
              <a:gd name="connsiteY25" fmla="*/ 5208171 h 6858000"/>
              <a:gd name="connsiteX26" fmla="*/ 540145 w 5434004"/>
              <a:gd name="connsiteY26" fmla="*/ 4993731 h 6858000"/>
              <a:gd name="connsiteX27" fmla="*/ 512099 w 5434004"/>
              <a:gd name="connsiteY27" fmla="*/ 4896399 h 6858000"/>
              <a:gd name="connsiteX28" fmla="*/ 482378 w 5434004"/>
              <a:gd name="connsiteY28" fmla="*/ 4838613 h 6858000"/>
              <a:gd name="connsiteX29" fmla="*/ 468676 w 5434004"/>
              <a:gd name="connsiteY29" fmla="*/ 4796522 h 6858000"/>
              <a:gd name="connsiteX30" fmla="*/ 430881 w 5434004"/>
              <a:gd name="connsiteY30" fmla="*/ 4672370 h 6858000"/>
              <a:gd name="connsiteX31" fmla="*/ 415292 w 5434004"/>
              <a:gd name="connsiteY31" fmla="*/ 4634253 h 6858000"/>
              <a:gd name="connsiteX32" fmla="*/ 348919 w 5434004"/>
              <a:gd name="connsiteY32" fmla="*/ 4549232 h 6858000"/>
              <a:gd name="connsiteX33" fmla="*/ 292438 w 5434004"/>
              <a:gd name="connsiteY33" fmla="*/ 4479912 h 6858000"/>
              <a:gd name="connsiteX34" fmla="*/ 283567 w 5434004"/>
              <a:gd name="connsiteY34" fmla="*/ 4376609 h 6858000"/>
              <a:gd name="connsiteX35" fmla="*/ 247018 w 5434004"/>
              <a:gd name="connsiteY35" fmla="*/ 4280257 h 6858000"/>
              <a:gd name="connsiteX36" fmla="*/ 243154 w 5434004"/>
              <a:gd name="connsiteY36" fmla="*/ 4208492 h 6858000"/>
              <a:gd name="connsiteX37" fmla="*/ 267243 w 5434004"/>
              <a:gd name="connsiteY37" fmla="*/ 4120636 h 6858000"/>
              <a:gd name="connsiteX38" fmla="*/ 274676 w 5434004"/>
              <a:gd name="connsiteY38" fmla="*/ 4116556 h 6858000"/>
              <a:gd name="connsiteX39" fmla="*/ 274016 w 5434004"/>
              <a:gd name="connsiteY39" fmla="*/ 4109625 h 6858000"/>
              <a:gd name="connsiteX40" fmla="*/ 266711 w 5434004"/>
              <a:gd name="connsiteY40" fmla="*/ 4105624 h 6858000"/>
              <a:gd name="connsiteX41" fmla="*/ 267360 w 5434004"/>
              <a:gd name="connsiteY41" fmla="*/ 4051441 h 6858000"/>
              <a:gd name="connsiteX42" fmla="*/ 280863 w 5434004"/>
              <a:gd name="connsiteY42" fmla="*/ 3988494 h 6858000"/>
              <a:gd name="connsiteX43" fmla="*/ 254473 w 5434004"/>
              <a:gd name="connsiteY43" fmla="*/ 3926485 h 6858000"/>
              <a:gd name="connsiteX44" fmla="*/ 238942 w 5434004"/>
              <a:gd name="connsiteY44" fmla="*/ 3857057 h 6858000"/>
              <a:gd name="connsiteX45" fmla="*/ 229388 w 5434004"/>
              <a:gd name="connsiteY45" fmla="*/ 3815650 h 6858000"/>
              <a:gd name="connsiteX46" fmla="*/ 224025 w 5434004"/>
              <a:gd name="connsiteY46" fmla="*/ 3696745 h 6858000"/>
              <a:gd name="connsiteX47" fmla="*/ 242028 w 5434004"/>
              <a:gd name="connsiteY47" fmla="*/ 3477814 h 6858000"/>
              <a:gd name="connsiteX48" fmla="*/ 239663 w 5434004"/>
              <a:gd name="connsiteY48" fmla="*/ 3375354 h 6858000"/>
              <a:gd name="connsiteX49" fmla="*/ 242939 w 5434004"/>
              <a:gd name="connsiteY49" fmla="*/ 3235494 h 6858000"/>
              <a:gd name="connsiteX50" fmla="*/ 235466 w 5434004"/>
              <a:gd name="connsiteY50" fmla="*/ 3111896 h 6858000"/>
              <a:gd name="connsiteX51" fmla="*/ 225859 w 5434004"/>
              <a:gd name="connsiteY51" fmla="*/ 3061665 h 6858000"/>
              <a:gd name="connsiteX52" fmla="*/ 214543 w 5434004"/>
              <a:gd name="connsiteY52" fmla="*/ 3026187 h 6858000"/>
              <a:gd name="connsiteX53" fmla="*/ 209002 w 5434004"/>
              <a:gd name="connsiteY53" fmla="*/ 2930097 h 6858000"/>
              <a:gd name="connsiteX54" fmla="*/ 209539 w 5434004"/>
              <a:gd name="connsiteY54" fmla="*/ 2768399 h 6858000"/>
              <a:gd name="connsiteX55" fmla="*/ 207490 w 5434004"/>
              <a:gd name="connsiteY55" fmla="*/ 2734615 h 6858000"/>
              <a:gd name="connsiteX56" fmla="*/ 197130 w 5434004"/>
              <a:gd name="connsiteY56" fmla="*/ 2708116 h 6858000"/>
              <a:gd name="connsiteX57" fmla="*/ 187231 w 5434004"/>
              <a:gd name="connsiteY57" fmla="*/ 2704185 h 6858000"/>
              <a:gd name="connsiteX58" fmla="*/ 184723 w 5434004"/>
              <a:gd name="connsiteY58" fmla="*/ 2686011 h 6858000"/>
              <a:gd name="connsiteX59" fmla="*/ 169929 w 5434004"/>
              <a:gd name="connsiteY59" fmla="*/ 2656504 h 6858000"/>
              <a:gd name="connsiteX60" fmla="*/ 188242 w 5434004"/>
              <a:gd name="connsiteY60" fmla="*/ 2589493 h 6858000"/>
              <a:gd name="connsiteX61" fmla="*/ 189125 w 5434004"/>
              <a:gd name="connsiteY61" fmla="*/ 2457617 h 6858000"/>
              <a:gd name="connsiteX62" fmla="*/ 195205 w 5434004"/>
              <a:gd name="connsiteY62" fmla="*/ 2210817 h 6858000"/>
              <a:gd name="connsiteX63" fmla="*/ 175797 w 5434004"/>
              <a:gd name="connsiteY63" fmla="*/ 1901521 h 6858000"/>
              <a:gd name="connsiteX64" fmla="*/ 156134 w 5434004"/>
              <a:gd name="connsiteY64" fmla="*/ 1700722 h 6858000"/>
              <a:gd name="connsiteX65" fmla="*/ 174157 w 5434004"/>
              <a:gd name="connsiteY65" fmla="*/ 1661610 h 6858000"/>
              <a:gd name="connsiteX66" fmla="*/ 180802 w 5434004"/>
              <a:gd name="connsiteY66" fmla="*/ 1640073 h 6858000"/>
              <a:gd name="connsiteX67" fmla="*/ 179221 w 5434004"/>
              <a:gd name="connsiteY67" fmla="*/ 1637398 h 6858000"/>
              <a:gd name="connsiteX68" fmla="*/ 179826 w 5434004"/>
              <a:gd name="connsiteY68" fmla="*/ 1612248 h 6858000"/>
              <a:gd name="connsiteX69" fmla="*/ 198048 w 5434004"/>
              <a:gd name="connsiteY69" fmla="*/ 1498097 h 6858000"/>
              <a:gd name="connsiteX70" fmla="*/ 196329 w 5434004"/>
              <a:gd name="connsiteY70" fmla="*/ 1497364 h 6858000"/>
              <a:gd name="connsiteX71" fmla="*/ 193204 w 5434004"/>
              <a:gd name="connsiteY71" fmla="*/ 1490042 h 6858000"/>
              <a:gd name="connsiteX72" fmla="*/ 211154 w 5434004"/>
              <a:gd name="connsiteY72" fmla="*/ 1451416 h 6858000"/>
              <a:gd name="connsiteX73" fmla="*/ 247750 w 5434004"/>
              <a:gd name="connsiteY73" fmla="*/ 1281781 h 6858000"/>
              <a:gd name="connsiteX74" fmla="*/ 323114 w 5434004"/>
              <a:gd name="connsiteY74" fmla="*/ 1074754 h 6858000"/>
              <a:gd name="connsiteX75" fmla="*/ 357209 w 5434004"/>
              <a:gd name="connsiteY75" fmla="*/ 1019094 h 6858000"/>
              <a:gd name="connsiteX76" fmla="*/ 393176 w 5434004"/>
              <a:gd name="connsiteY76" fmla="*/ 938921 h 6858000"/>
              <a:gd name="connsiteX77" fmla="*/ 451503 w 5434004"/>
              <a:gd name="connsiteY77" fmla="*/ 815814 h 6858000"/>
              <a:gd name="connsiteX78" fmla="*/ 567587 w 5434004"/>
              <a:gd name="connsiteY78" fmla="*/ 584070 h 6858000"/>
              <a:gd name="connsiteX79" fmla="*/ 592609 w 5434004"/>
              <a:gd name="connsiteY79" fmla="*/ 461805 h 6858000"/>
              <a:gd name="connsiteX80" fmla="*/ 624563 w 5434004"/>
              <a:gd name="connsiteY80" fmla="*/ 360945 h 6858000"/>
              <a:gd name="connsiteX81" fmla="*/ 627056 w 5434004"/>
              <a:gd name="connsiteY81" fmla="*/ 226335 h 6858000"/>
              <a:gd name="connsiteX82" fmla="*/ 655851 w 5434004"/>
              <a:gd name="connsiteY82" fmla="*/ 51690 h 6858000"/>
              <a:gd name="connsiteX83" fmla="*/ 653984 w 5434004"/>
              <a:gd name="connsiteY83" fmla="*/ 22133 h 6858000"/>
              <a:gd name="connsiteX84" fmla="*/ 643279 w 5434004"/>
              <a:gd name="connsiteY84" fmla="*/ 1037 h 6858000"/>
              <a:gd name="connsiteX85" fmla="*/ 643741 w 5434004"/>
              <a:gd name="connsiteY85" fmla="*/ 0 h 6858000"/>
              <a:gd name="connsiteX0" fmla="*/ 487607 w 5277870"/>
              <a:gd name="connsiteY0" fmla="*/ 0 h 6858000"/>
              <a:gd name="connsiteX1" fmla="*/ 5277870 w 5277870"/>
              <a:gd name="connsiteY1" fmla="*/ 0 h 6858000"/>
              <a:gd name="connsiteX2" fmla="*/ 5277870 w 5277870"/>
              <a:gd name="connsiteY2" fmla="*/ 6858000 h 6858000"/>
              <a:gd name="connsiteX3" fmla="*/ 893273 w 5277870"/>
              <a:gd name="connsiteY3" fmla="*/ 6857998 h 6858000"/>
              <a:gd name="connsiteX4" fmla="*/ 876958 w 5277870"/>
              <a:gd name="connsiteY4" fmla="*/ 6843615 h 6858000"/>
              <a:gd name="connsiteX5" fmla="*/ 848451 w 5277870"/>
              <a:gd name="connsiteY5" fmla="*/ 6800899 h 6858000"/>
              <a:gd name="connsiteX6" fmla="*/ 827952 w 5277870"/>
              <a:gd name="connsiteY6" fmla="*/ 6765441 h 6858000"/>
              <a:gd name="connsiteX7" fmla="*/ 799830 w 5277870"/>
              <a:gd name="connsiteY7" fmla="*/ 6739541 h 6858000"/>
              <a:gd name="connsiteX8" fmla="*/ 789686 w 5277870"/>
              <a:gd name="connsiteY8" fmla="*/ 6673829 h 6858000"/>
              <a:gd name="connsiteX9" fmla="*/ 765406 w 5277870"/>
              <a:gd name="connsiteY9" fmla="*/ 6620155 h 6858000"/>
              <a:gd name="connsiteX10" fmla="*/ 720302 w 5277870"/>
              <a:gd name="connsiteY10" fmla="*/ 6610437 h 6858000"/>
              <a:gd name="connsiteX11" fmla="*/ 720839 w 5277870"/>
              <a:gd name="connsiteY11" fmla="*/ 6596307 h 6858000"/>
              <a:gd name="connsiteX12" fmla="*/ 737648 w 5277870"/>
              <a:gd name="connsiteY12" fmla="*/ 6536039 h 6858000"/>
              <a:gd name="connsiteX13" fmla="*/ 674147 w 5277870"/>
              <a:gd name="connsiteY13" fmla="*/ 6239239 h 6858000"/>
              <a:gd name="connsiteX14" fmla="*/ 660239 w 5277870"/>
              <a:gd name="connsiteY14" fmla="*/ 6116986 h 6858000"/>
              <a:gd name="connsiteX15" fmla="*/ 632472 w 5277870"/>
              <a:gd name="connsiteY15" fmla="*/ 5895434 h 6858000"/>
              <a:gd name="connsiteX16" fmla="*/ 606181 w 5277870"/>
              <a:gd name="connsiteY16" fmla="*/ 5848019 h 6858000"/>
              <a:gd name="connsiteX17" fmla="*/ 558708 w 5277870"/>
              <a:gd name="connsiteY17" fmla="*/ 5722306 h 6858000"/>
              <a:gd name="connsiteX18" fmla="*/ 523366 w 5277870"/>
              <a:gd name="connsiteY18" fmla="*/ 5528085 h 6858000"/>
              <a:gd name="connsiteX19" fmla="*/ 504822 w 5277870"/>
              <a:gd name="connsiteY19" fmla="*/ 5506768 h 6858000"/>
              <a:gd name="connsiteX20" fmla="*/ 486823 w 5277870"/>
              <a:gd name="connsiteY20" fmla="*/ 5473318 h 6858000"/>
              <a:gd name="connsiteX21" fmla="*/ 445965 w 5277870"/>
              <a:gd name="connsiteY21" fmla="*/ 5418521 h 6858000"/>
              <a:gd name="connsiteX22" fmla="*/ 406875 w 5277870"/>
              <a:gd name="connsiteY22" fmla="*/ 5337536 h 6858000"/>
              <a:gd name="connsiteX23" fmla="*/ 428541 w 5277870"/>
              <a:gd name="connsiteY23" fmla="*/ 5255190 h 6858000"/>
              <a:gd name="connsiteX24" fmla="*/ 408744 w 5277870"/>
              <a:gd name="connsiteY24" fmla="*/ 5208171 h 6858000"/>
              <a:gd name="connsiteX25" fmla="*/ 384011 w 5277870"/>
              <a:gd name="connsiteY25" fmla="*/ 4993731 h 6858000"/>
              <a:gd name="connsiteX26" fmla="*/ 355965 w 5277870"/>
              <a:gd name="connsiteY26" fmla="*/ 4896399 h 6858000"/>
              <a:gd name="connsiteX27" fmla="*/ 326244 w 5277870"/>
              <a:gd name="connsiteY27" fmla="*/ 4838613 h 6858000"/>
              <a:gd name="connsiteX28" fmla="*/ 312542 w 5277870"/>
              <a:gd name="connsiteY28" fmla="*/ 4796522 h 6858000"/>
              <a:gd name="connsiteX29" fmla="*/ 274747 w 5277870"/>
              <a:gd name="connsiteY29" fmla="*/ 4672370 h 6858000"/>
              <a:gd name="connsiteX30" fmla="*/ 259158 w 5277870"/>
              <a:gd name="connsiteY30" fmla="*/ 4634253 h 6858000"/>
              <a:gd name="connsiteX31" fmla="*/ 192785 w 5277870"/>
              <a:gd name="connsiteY31" fmla="*/ 4549232 h 6858000"/>
              <a:gd name="connsiteX32" fmla="*/ 136304 w 5277870"/>
              <a:gd name="connsiteY32" fmla="*/ 4479912 h 6858000"/>
              <a:gd name="connsiteX33" fmla="*/ 127433 w 5277870"/>
              <a:gd name="connsiteY33" fmla="*/ 4376609 h 6858000"/>
              <a:gd name="connsiteX34" fmla="*/ 90884 w 5277870"/>
              <a:gd name="connsiteY34" fmla="*/ 4280257 h 6858000"/>
              <a:gd name="connsiteX35" fmla="*/ 87020 w 5277870"/>
              <a:gd name="connsiteY35" fmla="*/ 4208492 h 6858000"/>
              <a:gd name="connsiteX36" fmla="*/ 111109 w 5277870"/>
              <a:gd name="connsiteY36" fmla="*/ 4120636 h 6858000"/>
              <a:gd name="connsiteX37" fmla="*/ 118542 w 5277870"/>
              <a:gd name="connsiteY37" fmla="*/ 4116556 h 6858000"/>
              <a:gd name="connsiteX38" fmla="*/ 117882 w 5277870"/>
              <a:gd name="connsiteY38" fmla="*/ 4109625 h 6858000"/>
              <a:gd name="connsiteX39" fmla="*/ 110577 w 5277870"/>
              <a:gd name="connsiteY39" fmla="*/ 4105624 h 6858000"/>
              <a:gd name="connsiteX40" fmla="*/ 111226 w 5277870"/>
              <a:gd name="connsiteY40" fmla="*/ 4051441 h 6858000"/>
              <a:gd name="connsiteX41" fmla="*/ 124729 w 5277870"/>
              <a:gd name="connsiteY41" fmla="*/ 3988494 h 6858000"/>
              <a:gd name="connsiteX42" fmla="*/ 98339 w 5277870"/>
              <a:gd name="connsiteY42" fmla="*/ 3926485 h 6858000"/>
              <a:gd name="connsiteX43" fmla="*/ 82808 w 5277870"/>
              <a:gd name="connsiteY43" fmla="*/ 3857057 h 6858000"/>
              <a:gd name="connsiteX44" fmla="*/ 73254 w 5277870"/>
              <a:gd name="connsiteY44" fmla="*/ 3815650 h 6858000"/>
              <a:gd name="connsiteX45" fmla="*/ 67891 w 5277870"/>
              <a:gd name="connsiteY45" fmla="*/ 3696745 h 6858000"/>
              <a:gd name="connsiteX46" fmla="*/ 85894 w 5277870"/>
              <a:gd name="connsiteY46" fmla="*/ 3477814 h 6858000"/>
              <a:gd name="connsiteX47" fmla="*/ 83529 w 5277870"/>
              <a:gd name="connsiteY47" fmla="*/ 3375354 h 6858000"/>
              <a:gd name="connsiteX48" fmla="*/ 86805 w 5277870"/>
              <a:gd name="connsiteY48" fmla="*/ 3235494 h 6858000"/>
              <a:gd name="connsiteX49" fmla="*/ 79332 w 5277870"/>
              <a:gd name="connsiteY49" fmla="*/ 3111896 h 6858000"/>
              <a:gd name="connsiteX50" fmla="*/ 69725 w 5277870"/>
              <a:gd name="connsiteY50" fmla="*/ 3061665 h 6858000"/>
              <a:gd name="connsiteX51" fmla="*/ 58409 w 5277870"/>
              <a:gd name="connsiteY51" fmla="*/ 3026187 h 6858000"/>
              <a:gd name="connsiteX52" fmla="*/ 52868 w 5277870"/>
              <a:gd name="connsiteY52" fmla="*/ 2930097 h 6858000"/>
              <a:gd name="connsiteX53" fmla="*/ 53405 w 5277870"/>
              <a:gd name="connsiteY53" fmla="*/ 2768399 h 6858000"/>
              <a:gd name="connsiteX54" fmla="*/ 51356 w 5277870"/>
              <a:gd name="connsiteY54" fmla="*/ 2734615 h 6858000"/>
              <a:gd name="connsiteX55" fmla="*/ 40996 w 5277870"/>
              <a:gd name="connsiteY55" fmla="*/ 2708116 h 6858000"/>
              <a:gd name="connsiteX56" fmla="*/ 31097 w 5277870"/>
              <a:gd name="connsiteY56" fmla="*/ 2704185 h 6858000"/>
              <a:gd name="connsiteX57" fmla="*/ 28589 w 5277870"/>
              <a:gd name="connsiteY57" fmla="*/ 2686011 h 6858000"/>
              <a:gd name="connsiteX58" fmla="*/ 13795 w 5277870"/>
              <a:gd name="connsiteY58" fmla="*/ 2656504 h 6858000"/>
              <a:gd name="connsiteX59" fmla="*/ 32108 w 5277870"/>
              <a:gd name="connsiteY59" fmla="*/ 2589493 h 6858000"/>
              <a:gd name="connsiteX60" fmla="*/ 32991 w 5277870"/>
              <a:gd name="connsiteY60" fmla="*/ 2457617 h 6858000"/>
              <a:gd name="connsiteX61" fmla="*/ 39071 w 5277870"/>
              <a:gd name="connsiteY61" fmla="*/ 2210817 h 6858000"/>
              <a:gd name="connsiteX62" fmla="*/ 19663 w 5277870"/>
              <a:gd name="connsiteY62" fmla="*/ 1901521 h 6858000"/>
              <a:gd name="connsiteX63" fmla="*/ 0 w 5277870"/>
              <a:gd name="connsiteY63" fmla="*/ 1700722 h 6858000"/>
              <a:gd name="connsiteX64" fmla="*/ 18023 w 5277870"/>
              <a:gd name="connsiteY64" fmla="*/ 1661610 h 6858000"/>
              <a:gd name="connsiteX65" fmla="*/ 24668 w 5277870"/>
              <a:gd name="connsiteY65" fmla="*/ 1640073 h 6858000"/>
              <a:gd name="connsiteX66" fmla="*/ 23087 w 5277870"/>
              <a:gd name="connsiteY66" fmla="*/ 1637398 h 6858000"/>
              <a:gd name="connsiteX67" fmla="*/ 23692 w 5277870"/>
              <a:gd name="connsiteY67" fmla="*/ 1612248 h 6858000"/>
              <a:gd name="connsiteX68" fmla="*/ 41914 w 5277870"/>
              <a:gd name="connsiteY68" fmla="*/ 1498097 h 6858000"/>
              <a:gd name="connsiteX69" fmla="*/ 40195 w 5277870"/>
              <a:gd name="connsiteY69" fmla="*/ 1497364 h 6858000"/>
              <a:gd name="connsiteX70" fmla="*/ 37070 w 5277870"/>
              <a:gd name="connsiteY70" fmla="*/ 1490042 h 6858000"/>
              <a:gd name="connsiteX71" fmla="*/ 55020 w 5277870"/>
              <a:gd name="connsiteY71" fmla="*/ 1451416 h 6858000"/>
              <a:gd name="connsiteX72" fmla="*/ 91616 w 5277870"/>
              <a:gd name="connsiteY72" fmla="*/ 1281781 h 6858000"/>
              <a:gd name="connsiteX73" fmla="*/ 166980 w 5277870"/>
              <a:gd name="connsiteY73" fmla="*/ 1074754 h 6858000"/>
              <a:gd name="connsiteX74" fmla="*/ 201075 w 5277870"/>
              <a:gd name="connsiteY74" fmla="*/ 1019094 h 6858000"/>
              <a:gd name="connsiteX75" fmla="*/ 237042 w 5277870"/>
              <a:gd name="connsiteY75" fmla="*/ 938921 h 6858000"/>
              <a:gd name="connsiteX76" fmla="*/ 295369 w 5277870"/>
              <a:gd name="connsiteY76" fmla="*/ 815814 h 6858000"/>
              <a:gd name="connsiteX77" fmla="*/ 411453 w 5277870"/>
              <a:gd name="connsiteY77" fmla="*/ 584070 h 6858000"/>
              <a:gd name="connsiteX78" fmla="*/ 436475 w 5277870"/>
              <a:gd name="connsiteY78" fmla="*/ 461805 h 6858000"/>
              <a:gd name="connsiteX79" fmla="*/ 468429 w 5277870"/>
              <a:gd name="connsiteY79" fmla="*/ 360945 h 6858000"/>
              <a:gd name="connsiteX80" fmla="*/ 470922 w 5277870"/>
              <a:gd name="connsiteY80" fmla="*/ 226335 h 6858000"/>
              <a:gd name="connsiteX81" fmla="*/ 499717 w 5277870"/>
              <a:gd name="connsiteY81" fmla="*/ 51690 h 6858000"/>
              <a:gd name="connsiteX82" fmla="*/ 497850 w 5277870"/>
              <a:gd name="connsiteY82" fmla="*/ 22133 h 6858000"/>
              <a:gd name="connsiteX83" fmla="*/ 487145 w 5277870"/>
              <a:gd name="connsiteY83" fmla="*/ 1037 h 6858000"/>
              <a:gd name="connsiteX84" fmla="*/ 487607 w 5277870"/>
              <a:gd name="connsiteY8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277870" h="6858000">
                <a:moveTo>
                  <a:pt x="487607" y="0"/>
                </a:moveTo>
                <a:lnTo>
                  <a:pt x="5277870" y="0"/>
                </a:lnTo>
                <a:lnTo>
                  <a:pt x="5277870" y="6858000"/>
                </a:lnTo>
                <a:lnTo>
                  <a:pt x="893273" y="6857998"/>
                </a:lnTo>
                <a:lnTo>
                  <a:pt x="876958" y="6843615"/>
                </a:lnTo>
                <a:lnTo>
                  <a:pt x="848451" y="6800899"/>
                </a:lnTo>
                <a:lnTo>
                  <a:pt x="827952" y="6765441"/>
                </a:lnTo>
                <a:cubicBezTo>
                  <a:pt x="827507" y="6750832"/>
                  <a:pt x="798355" y="6753978"/>
                  <a:pt x="799830" y="6739541"/>
                </a:cubicBezTo>
                <a:cubicBezTo>
                  <a:pt x="786503" y="6723280"/>
                  <a:pt x="803673" y="6682742"/>
                  <a:pt x="789686" y="6673829"/>
                </a:cubicBezTo>
                <a:cubicBezTo>
                  <a:pt x="776006" y="6657903"/>
                  <a:pt x="778015" y="6625745"/>
                  <a:pt x="765406" y="6620155"/>
                </a:cubicBezTo>
                <a:lnTo>
                  <a:pt x="720302" y="6610437"/>
                </a:lnTo>
                <a:lnTo>
                  <a:pt x="720839" y="6596307"/>
                </a:lnTo>
                <a:lnTo>
                  <a:pt x="737648" y="6536039"/>
                </a:lnTo>
                <a:cubicBezTo>
                  <a:pt x="731713" y="6378236"/>
                  <a:pt x="664893" y="6350780"/>
                  <a:pt x="674147" y="6239239"/>
                </a:cubicBezTo>
                <a:cubicBezTo>
                  <a:pt x="668193" y="6196030"/>
                  <a:pt x="677776" y="6168747"/>
                  <a:pt x="660239" y="6116986"/>
                </a:cubicBezTo>
                <a:cubicBezTo>
                  <a:pt x="693882" y="6035788"/>
                  <a:pt x="626477" y="5971885"/>
                  <a:pt x="632472" y="5895434"/>
                </a:cubicBezTo>
                <a:cubicBezTo>
                  <a:pt x="571936" y="5884249"/>
                  <a:pt x="624704" y="5880776"/>
                  <a:pt x="606181" y="5848019"/>
                </a:cubicBezTo>
                <a:cubicBezTo>
                  <a:pt x="593885" y="5819164"/>
                  <a:pt x="572509" y="5775628"/>
                  <a:pt x="558708" y="5722306"/>
                </a:cubicBezTo>
                <a:cubicBezTo>
                  <a:pt x="551746" y="5685812"/>
                  <a:pt x="532346" y="5564008"/>
                  <a:pt x="523366" y="5528085"/>
                </a:cubicBezTo>
                <a:cubicBezTo>
                  <a:pt x="518594" y="5519172"/>
                  <a:pt x="523045" y="5505250"/>
                  <a:pt x="504822" y="5506768"/>
                </a:cubicBezTo>
                <a:cubicBezTo>
                  <a:pt x="482648" y="5506487"/>
                  <a:pt x="511311" y="5459433"/>
                  <a:pt x="486823" y="5473318"/>
                </a:cubicBezTo>
                <a:cubicBezTo>
                  <a:pt x="506358" y="5440194"/>
                  <a:pt x="459463" y="5435836"/>
                  <a:pt x="445965" y="5418521"/>
                </a:cubicBezTo>
                <a:cubicBezTo>
                  <a:pt x="465954" y="5390815"/>
                  <a:pt x="417921" y="5381811"/>
                  <a:pt x="406875" y="5337536"/>
                </a:cubicBezTo>
                <a:cubicBezTo>
                  <a:pt x="430123" y="5306619"/>
                  <a:pt x="399081" y="5307846"/>
                  <a:pt x="428541" y="5255190"/>
                </a:cubicBezTo>
                <a:cubicBezTo>
                  <a:pt x="428852" y="5233629"/>
                  <a:pt x="407502" y="5247189"/>
                  <a:pt x="408744" y="5208171"/>
                </a:cubicBezTo>
                <a:cubicBezTo>
                  <a:pt x="406613" y="5154483"/>
                  <a:pt x="390295" y="5051554"/>
                  <a:pt x="384011" y="4993731"/>
                </a:cubicBezTo>
                <a:cubicBezTo>
                  <a:pt x="373186" y="4967089"/>
                  <a:pt x="370884" y="4912140"/>
                  <a:pt x="355965" y="4896399"/>
                </a:cubicBezTo>
                <a:cubicBezTo>
                  <a:pt x="355837" y="4852829"/>
                  <a:pt x="351078" y="4813709"/>
                  <a:pt x="326244" y="4838613"/>
                </a:cubicBezTo>
                <a:cubicBezTo>
                  <a:pt x="299018" y="4831439"/>
                  <a:pt x="336627" y="4804968"/>
                  <a:pt x="312542" y="4796522"/>
                </a:cubicBezTo>
                <a:lnTo>
                  <a:pt x="274747" y="4672370"/>
                </a:lnTo>
                <a:cubicBezTo>
                  <a:pt x="286762" y="4649487"/>
                  <a:pt x="276585" y="4640072"/>
                  <a:pt x="259158" y="4634253"/>
                </a:cubicBezTo>
                <a:cubicBezTo>
                  <a:pt x="255297" y="4595381"/>
                  <a:pt x="210632" y="4586807"/>
                  <a:pt x="192785" y="4549232"/>
                </a:cubicBezTo>
                <a:cubicBezTo>
                  <a:pt x="175514" y="4501329"/>
                  <a:pt x="155204" y="4520147"/>
                  <a:pt x="136304" y="4479912"/>
                </a:cubicBezTo>
                <a:lnTo>
                  <a:pt x="127433" y="4376609"/>
                </a:lnTo>
                <a:cubicBezTo>
                  <a:pt x="119863" y="4343333"/>
                  <a:pt x="97619" y="4308276"/>
                  <a:pt x="90884" y="4280257"/>
                </a:cubicBezTo>
                <a:cubicBezTo>
                  <a:pt x="94219" y="4220025"/>
                  <a:pt x="104684" y="4233011"/>
                  <a:pt x="87020" y="4208492"/>
                </a:cubicBezTo>
                <a:cubicBezTo>
                  <a:pt x="95065" y="4180444"/>
                  <a:pt x="129022" y="4152083"/>
                  <a:pt x="111109" y="4120636"/>
                </a:cubicBezTo>
                <a:cubicBezTo>
                  <a:pt x="115978" y="4121934"/>
                  <a:pt x="117998" y="4120145"/>
                  <a:pt x="118542" y="4116556"/>
                </a:cubicBezTo>
                <a:cubicBezTo>
                  <a:pt x="118321" y="4114246"/>
                  <a:pt x="118101" y="4111935"/>
                  <a:pt x="117882" y="4109625"/>
                </a:cubicBezTo>
                <a:lnTo>
                  <a:pt x="110577" y="4105624"/>
                </a:lnTo>
                <a:cubicBezTo>
                  <a:pt x="85114" y="4088878"/>
                  <a:pt x="113587" y="4082596"/>
                  <a:pt x="111226" y="4051441"/>
                </a:cubicBezTo>
                <a:cubicBezTo>
                  <a:pt x="111638" y="4036628"/>
                  <a:pt x="118512" y="3985548"/>
                  <a:pt x="124729" y="3988494"/>
                </a:cubicBezTo>
                <a:lnTo>
                  <a:pt x="98339" y="3926485"/>
                </a:lnTo>
                <a:cubicBezTo>
                  <a:pt x="120456" y="3887663"/>
                  <a:pt x="82381" y="3893685"/>
                  <a:pt x="82808" y="3857057"/>
                </a:cubicBezTo>
                <a:cubicBezTo>
                  <a:pt x="89625" y="3836374"/>
                  <a:pt x="88641" y="3824518"/>
                  <a:pt x="73254" y="3815650"/>
                </a:cubicBezTo>
                <a:cubicBezTo>
                  <a:pt x="107452" y="3718923"/>
                  <a:pt x="64680" y="3772318"/>
                  <a:pt x="67891" y="3696745"/>
                </a:cubicBezTo>
                <a:cubicBezTo>
                  <a:pt x="73347" y="3630391"/>
                  <a:pt x="83288" y="3531379"/>
                  <a:pt x="85894" y="3477814"/>
                </a:cubicBezTo>
                <a:cubicBezTo>
                  <a:pt x="88500" y="3424249"/>
                  <a:pt x="86217" y="3377198"/>
                  <a:pt x="83529" y="3375354"/>
                </a:cubicBezTo>
                <a:cubicBezTo>
                  <a:pt x="83101" y="3339059"/>
                  <a:pt x="90016" y="3285266"/>
                  <a:pt x="86805" y="3235494"/>
                </a:cubicBezTo>
                <a:cubicBezTo>
                  <a:pt x="78762" y="3207446"/>
                  <a:pt x="61419" y="3143345"/>
                  <a:pt x="79332" y="3111896"/>
                </a:cubicBezTo>
                <a:cubicBezTo>
                  <a:pt x="59856" y="3117096"/>
                  <a:pt x="85974" y="3072872"/>
                  <a:pt x="69725" y="3061665"/>
                </a:cubicBezTo>
                <a:cubicBezTo>
                  <a:pt x="56184" y="3054621"/>
                  <a:pt x="60953" y="3039562"/>
                  <a:pt x="58409" y="3026187"/>
                </a:cubicBezTo>
                <a:cubicBezTo>
                  <a:pt x="45869" y="3013333"/>
                  <a:pt x="46112" y="2950064"/>
                  <a:pt x="52868" y="2930097"/>
                </a:cubicBezTo>
                <a:cubicBezTo>
                  <a:pt x="80421" y="2876459"/>
                  <a:pt x="32874" y="2811741"/>
                  <a:pt x="53405" y="2768399"/>
                </a:cubicBezTo>
                <a:cubicBezTo>
                  <a:pt x="54801" y="2755814"/>
                  <a:pt x="53816" y="2744722"/>
                  <a:pt x="51356" y="2734615"/>
                </a:cubicBezTo>
                <a:lnTo>
                  <a:pt x="40996" y="2708116"/>
                </a:lnTo>
                <a:lnTo>
                  <a:pt x="31097" y="2704185"/>
                </a:lnTo>
                <a:lnTo>
                  <a:pt x="28589" y="2686011"/>
                </a:lnTo>
                <a:lnTo>
                  <a:pt x="13795" y="2656504"/>
                </a:lnTo>
                <a:cubicBezTo>
                  <a:pt x="56166" y="2648211"/>
                  <a:pt x="-6214" y="2580540"/>
                  <a:pt x="32108" y="2589493"/>
                </a:cubicBezTo>
                <a:cubicBezTo>
                  <a:pt x="22039" y="2539863"/>
                  <a:pt x="41060" y="2531259"/>
                  <a:pt x="32991" y="2457617"/>
                </a:cubicBezTo>
                <a:cubicBezTo>
                  <a:pt x="45635" y="2365891"/>
                  <a:pt x="40786" y="2284833"/>
                  <a:pt x="39071" y="2210817"/>
                </a:cubicBezTo>
                <a:cubicBezTo>
                  <a:pt x="39941" y="2106412"/>
                  <a:pt x="22396" y="1993081"/>
                  <a:pt x="19663" y="1901521"/>
                </a:cubicBezTo>
                <a:cubicBezTo>
                  <a:pt x="10670" y="1826286"/>
                  <a:pt x="4249" y="1796783"/>
                  <a:pt x="0" y="1700722"/>
                </a:cubicBezTo>
                <a:cubicBezTo>
                  <a:pt x="5587" y="1695223"/>
                  <a:pt x="14814" y="1668682"/>
                  <a:pt x="18023" y="1661610"/>
                </a:cubicBezTo>
                <a:lnTo>
                  <a:pt x="24668" y="1640073"/>
                </a:lnTo>
                <a:lnTo>
                  <a:pt x="23087" y="1637398"/>
                </a:lnTo>
                <a:cubicBezTo>
                  <a:pt x="19812" y="1625364"/>
                  <a:pt x="20811" y="1617807"/>
                  <a:pt x="23692" y="1612248"/>
                </a:cubicBezTo>
                <a:lnTo>
                  <a:pt x="41914" y="1498097"/>
                </a:lnTo>
                <a:lnTo>
                  <a:pt x="40195" y="1497364"/>
                </a:lnTo>
                <a:lnTo>
                  <a:pt x="37070" y="1490042"/>
                </a:lnTo>
                <a:lnTo>
                  <a:pt x="55020" y="1451416"/>
                </a:lnTo>
                <a:cubicBezTo>
                  <a:pt x="73102" y="1417430"/>
                  <a:pt x="80421" y="1313985"/>
                  <a:pt x="91616" y="1281781"/>
                </a:cubicBezTo>
                <a:cubicBezTo>
                  <a:pt x="137974" y="1171345"/>
                  <a:pt x="146547" y="1130634"/>
                  <a:pt x="166980" y="1074754"/>
                </a:cubicBezTo>
                <a:cubicBezTo>
                  <a:pt x="181651" y="1040817"/>
                  <a:pt x="190408" y="1034723"/>
                  <a:pt x="201075" y="1019094"/>
                </a:cubicBezTo>
                <a:cubicBezTo>
                  <a:pt x="207201" y="1005265"/>
                  <a:pt x="260932" y="958184"/>
                  <a:pt x="237042" y="938921"/>
                </a:cubicBezTo>
                <a:cubicBezTo>
                  <a:pt x="287348" y="869297"/>
                  <a:pt x="265291" y="876942"/>
                  <a:pt x="295369" y="815814"/>
                </a:cubicBezTo>
                <a:cubicBezTo>
                  <a:pt x="329951" y="751141"/>
                  <a:pt x="383834" y="609442"/>
                  <a:pt x="411453" y="584070"/>
                </a:cubicBezTo>
                <a:cubicBezTo>
                  <a:pt x="438653" y="530431"/>
                  <a:pt x="423178" y="516020"/>
                  <a:pt x="436475" y="461805"/>
                </a:cubicBezTo>
                <a:cubicBezTo>
                  <a:pt x="454281" y="438996"/>
                  <a:pt x="448264" y="386523"/>
                  <a:pt x="468429" y="360945"/>
                </a:cubicBezTo>
                <a:cubicBezTo>
                  <a:pt x="474686" y="267247"/>
                  <a:pt x="468220" y="285413"/>
                  <a:pt x="470922" y="226335"/>
                </a:cubicBezTo>
                <a:cubicBezTo>
                  <a:pt x="481883" y="180653"/>
                  <a:pt x="495229" y="85724"/>
                  <a:pt x="499717" y="51690"/>
                </a:cubicBezTo>
                <a:cubicBezTo>
                  <a:pt x="482601" y="39734"/>
                  <a:pt x="492651" y="34426"/>
                  <a:pt x="497850" y="22133"/>
                </a:cubicBezTo>
                <a:cubicBezTo>
                  <a:pt x="482148" y="14444"/>
                  <a:pt x="483752" y="7720"/>
                  <a:pt x="487145" y="1037"/>
                </a:cubicBezTo>
                <a:lnTo>
                  <a:pt x="487607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B78479-A98E-9C42-A399-CC943DE2A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84" y="1562100"/>
            <a:ext cx="3795642" cy="3733800"/>
          </a:xfrm>
        </p:spPr>
        <p:txBody>
          <a:bodyPr>
            <a:normAutofit/>
          </a:bodyPr>
          <a:lstStyle/>
          <a:p>
            <a:pPr algn="ctr"/>
            <a:r>
              <a:rPr lang="sr-Latn-RS">
                <a:solidFill>
                  <a:schemeClr val="tx1">
                    <a:lumMod val="85000"/>
                    <a:lumOff val="15000"/>
                  </a:schemeClr>
                </a:solidFill>
              </a:rPr>
              <a:t>6. </a:t>
            </a:r>
            <a:r>
              <a:rPr lang="en-GB">
                <a:solidFill>
                  <a:schemeClr val="tx1">
                    <a:lumMod val="85000"/>
                    <a:lumOff val="15000"/>
                  </a:schemeClr>
                </a:solidFill>
              </a:rPr>
              <a:t>RFM Performance Is Concentrated and Offset by Negative Segments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EE575-E027-F799-DBF3-57E0BBB4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33425"/>
            <a:ext cx="5135592" cy="5391150"/>
          </a:xfrm>
        </p:spPr>
        <p:txBody>
          <a:bodyPr anchor="ctr">
            <a:normAutofit/>
          </a:bodyPr>
          <a:lstStyle/>
          <a:p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RFM contribution is uneven:</a:t>
            </a:r>
          </a:p>
          <a:p>
            <a:pPr marL="0" indent="0">
              <a:buNone/>
            </a:pPr>
            <a:r>
              <a:rPr lang="sr-Latn-RS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r>
              <a:rPr lang="en-GB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Lost: +13,213</a:t>
            </a:r>
            <a:endParaRPr lang="en-GB" sz="20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sr-Latn-RS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r>
              <a:rPr lang="en-GB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Potential Loyalists: −9,480</a:t>
            </a:r>
            <a:endParaRPr lang="en-GB" sz="20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Strong gains in Lost are partially offset by losses elsewhere.</a:t>
            </a:r>
            <a:b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This reflects </a:t>
            </a:r>
            <a:r>
              <a:rPr lang="en-GB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contact pressure and sequencing issues</a:t>
            </a:r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, not segment potential.</a:t>
            </a:r>
          </a:p>
          <a:p>
            <a:endParaRPr lang="en-US" sz="20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159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87B25A-ED3A-3FC9-BBF4-A29979605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sr-Latn-RS" sz="3700">
                <a:solidFill>
                  <a:schemeClr val="tx1">
                    <a:lumMod val="85000"/>
                    <a:lumOff val="15000"/>
                  </a:schemeClr>
                </a:solidFill>
              </a:rPr>
              <a:t>7. </a:t>
            </a:r>
            <a:r>
              <a:rPr lang="en-GB" sz="3700">
                <a:solidFill>
                  <a:schemeClr val="tx1">
                    <a:lumMod val="85000"/>
                    <a:lumOff val="15000"/>
                  </a:schemeClr>
                </a:solidFill>
              </a:rPr>
              <a:t>Shift CRM from Broad Activation to Governed Value Growth</a:t>
            </a:r>
            <a:endParaRPr lang="en-US" sz="37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27222-206B-1FE7-7A54-550670CA3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/>
          </a:bodyPr>
          <a:lstStyle/>
          <a:p>
            <a:r>
              <a:rPr lang="sr-Latn-R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I</a:t>
            </a:r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mmediate priorities:</a:t>
            </a:r>
          </a:p>
          <a:p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Segment-specific frequency caps</a:t>
            </a:r>
          </a:p>
          <a:p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Pressure reduction in negative segments</a:t>
            </a:r>
          </a:p>
          <a:p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Offer redesign for Active and Potential Loyalists</a:t>
            </a:r>
          </a:p>
          <a:p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Sensitivity testing (PRE: </a:t>
            </a:r>
            <a:r>
              <a:rPr lang="en-GB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14 / 28 / 56</a:t>
            </a:r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, POST: </a:t>
            </a:r>
            <a:r>
              <a:rPr lang="en-GB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3 / 7 / 14</a:t>
            </a:r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Objective: sustain lift while protecting value.</a:t>
            </a:r>
          </a:p>
          <a:p>
            <a:endParaRPr lang="en-US" sz="20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472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526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CRM Creates Incremental Lift—but Only with Strong Value Control</vt:lpstr>
      <vt:lpstr>Contents</vt:lpstr>
      <vt:lpstr>1. CRM works, but without value controls it converts activity into fragile revenue.</vt:lpstr>
      <vt:lpstr>2. Use Incrementality as a Directional Signal, Not Causal Proof</vt:lpstr>
      <vt:lpstr>3. Revenue Growth Is Coming at the Expense of Basket Value</vt:lpstr>
      <vt:lpstr>4. High-Value Customers Drive Impact; Low-Value Require Tight Discipline</vt:lpstr>
      <vt:lpstr>5. Reactivation Works; Active Customer Journeys Are Underperforming</vt:lpstr>
      <vt:lpstr>6. RFM Performance Is Concentrated and Offset by Negative Segments</vt:lpstr>
      <vt:lpstr>7. Shift CRM from Broad Activation to Governed Value Growth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Boban Zivojinovic</dc:creator>
  <cp:lastModifiedBy>Boban Zivojinovic</cp:lastModifiedBy>
  <cp:revision>16</cp:revision>
  <dcterms:created xsi:type="dcterms:W3CDTF">2026-01-14T09:12:04Z</dcterms:created>
  <dcterms:modified xsi:type="dcterms:W3CDTF">2026-01-14T09:32:30Z</dcterms:modified>
</cp:coreProperties>
</file>