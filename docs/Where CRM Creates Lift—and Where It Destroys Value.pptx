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35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1A904-1661-BE17-4293-E6D3E228E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AC82C-C04F-0F52-F572-48BFB0CD6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38033-57A0-0A7C-2381-59716746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4433-AC00-44B6-AB7F-D190614A96D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34B8E-486D-AFC2-71B3-85B3CAB93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33AEB-A159-AADC-969B-2D3D9D15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E192-2732-44FB-B18F-F15A97B4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61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E6FF5-AC76-7CEE-4115-077852776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44035-361F-9D4A-9296-02D03D5B3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06FF-C98A-A6F4-2104-EB11445A9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4433-AC00-44B6-AB7F-D190614A96D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BB3A5-8BA6-6076-6491-12E34009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32875-491E-EBCD-F433-6F6F01D7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E192-2732-44FB-B18F-F15A97B4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9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B2369-B062-9C1A-CF89-D6A71B524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C3802-9C78-74D1-1377-EFD76B830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EB0C2-FBC9-4684-4DF8-23FD1854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4433-AC00-44B6-AB7F-D190614A96D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D88AE-465F-2CCE-B742-482E9C538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A4A75-17BB-D368-758D-4A46ECE5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E192-2732-44FB-B18F-F15A97B4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2573-778D-BEEE-1560-0F09DC23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17CDA-A31F-7451-6177-7F452872E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F1394-6E78-117C-E14D-E6BE5A526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58BAB-B543-B508-2A88-FBAF8FC1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4433-AC00-44B6-AB7F-D190614A96D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B33AF-3399-887C-DFA1-BF2C64555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F5FDE-B518-6725-3D25-37DAA9FD2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E192-2732-44FB-B18F-F15A97B4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4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D97AC-E73C-B9F2-3F36-3AE71069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807C7-C6EC-7285-73D3-CBF30157A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033CE-46CA-65C9-9388-71673BF09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0031D7-6C97-8D07-84BC-7B198BC8B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DA00BB-F556-605D-038E-6D12509DE1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C96812-756A-E170-CBE2-43DB5DB39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4433-AC00-44B6-AB7F-D190614A96D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024A1D-3379-6BB2-6638-BC279E20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0F9AD4-2915-B042-1D85-DB5D00A1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E192-2732-44FB-B18F-F15A97B4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32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A29C-5741-1A0D-5CDE-0CE39D80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A9108-D44B-04E2-3DB8-CCB046AD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4433-AC00-44B6-AB7F-D190614A96D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64191-B40F-7E94-0BF9-0CDDCCEC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14094-D4EC-3DC7-602F-F392C1180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E192-2732-44FB-B18F-F15A97B4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68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D92F3-2F67-6954-5F6A-52E8C80F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4433-AC00-44B6-AB7F-D190614A96D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CAF13-CA6D-50E7-5F0B-9A808F2DE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C288C-9027-E31B-31F0-3104017E9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E192-2732-44FB-B18F-F15A97B4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2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5348-0D75-2DEB-BB4A-B551B1142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10638-C03F-7F16-C20C-19FA99AF6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84835-21E5-D96C-CE45-F8447B5E2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F87C5-9553-4E94-F5BC-6E6457192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4433-AC00-44B6-AB7F-D190614A96D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1CAB5-8503-DD9B-C838-F7672AD5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EE710-CEA3-5A4A-C155-5DE1D9B01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E192-2732-44FB-B18F-F15A97B4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2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3F8A-5C09-B308-DA12-5D1DAC1A9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89A1FA-61C4-681A-8E83-E83C954AF4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0F63B-7052-0F0C-0403-8AF72856E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5D59B-6BA1-13EE-5F39-DD515942E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4433-AC00-44B6-AB7F-D190614A96D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AECEA-FFB4-D68F-3E5B-FC650AD6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15069-1B42-1F7E-4E71-C8918D3E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E192-2732-44FB-B18F-F15A97B4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9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337F-B247-6904-6770-4ADB95C4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7F8E3-47A4-0846-F2FD-6D3AD5745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4F70C-DE12-279B-99B5-172189C7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4433-AC00-44B6-AB7F-D190614A96D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7425D-7CC0-78B9-78D6-8B97B0346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06213-B1AC-E1F8-04D5-61EA4532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E192-2732-44FB-B18F-F15A97B4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52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1EF885-38AF-66FD-0ABC-660B551AF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3BE4A-3397-E754-2939-EAEC4CB7E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2BC2F-9B27-9410-6E7C-9ACF0A4D8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54433-AC00-44B6-AB7F-D190614A96D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E31D2-B543-590F-ACAE-D62B61A62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D8C7F-D9CB-EFA8-C773-CEAE3380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E192-2732-44FB-B18F-F15A97B4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5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E86B09-DB5A-74FC-169D-CEFCFF4E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46B79-C2FF-6EA6-5C40-298E4D6A4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D8DD3-7CCC-12E5-A8D7-3DD188EA02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54433-AC00-44B6-AB7F-D190614A96D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6C19D-8058-AB7E-08B5-4BAF21760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E670C-AC4E-BA9A-3314-1A6B82968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5E192-2732-44FB-B18F-F15A97B46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3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AF9761-0165-6C7D-1C0C-AA33ABF63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GB" sz="6100"/>
              <a:t>Where CRM Creates Lift—and Where It Destroys Value</a:t>
            </a:r>
            <a:endParaRPr lang="en-US" sz="6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5BA78-114A-74BD-3986-501AD648F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 fontScale="62500" lnSpcReduction="20000"/>
          </a:bodyPr>
          <a:lstStyle/>
          <a:p>
            <a:endParaRPr lang="en-US" sz="700" dirty="0"/>
          </a:p>
          <a:p>
            <a:endParaRPr lang="en-US" sz="700" dirty="0"/>
          </a:p>
          <a:p>
            <a:r>
              <a:rPr lang="en-US" sz="2500" dirty="0"/>
              <a:t>Boban Zivojinovic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031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D57DD8-55E6-93E3-4D1D-1EA6DF89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Contents: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8830-5486-5027-8645-7DDC9A142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/>
              <a:t>1. Executive Takeaways</a:t>
            </a:r>
            <a:br>
              <a:rPr lang="en-GB" sz="1200" dirty="0"/>
            </a:br>
            <a:r>
              <a:rPr lang="en-GB" sz="1200" dirty="0"/>
              <a:t>What changed overall and why it matters for the business</a:t>
            </a:r>
          </a:p>
          <a:p>
            <a:pPr marL="0" indent="0">
              <a:buNone/>
            </a:pPr>
            <a:r>
              <a:rPr lang="en-GB" sz="1200" b="1" dirty="0"/>
              <a:t>2. Measurement Approach &amp; Guardrails</a:t>
            </a:r>
            <a:br>
              <a:rPr lang="en-GB" sz="1200" dirty="0"/>
            </a:br>
            <a:r>
              <a:rPr lang="en-GB" sz="1200" dirty="0"/>
              <a:t>How incrementality is estimated, and how to interpret results safely</a:t>
            </a:r>
          </a:p>
          <a:p>
            <a:pPr marL="0" indent="0">
              <a:buNone/>
            </a:pPr>
            <a:r>
              <a:rPr lang="en-GB" sz="1200" b="1" dirty="0"/>
              <a:t>3. Overall CRM Incrementality Performance</a:t>
            </a:r>
            <a:br>
              <a:rPr lang="en-GB" sz="1200" dirty="0"/>
            </a:br>
            <a:r>
              <a:rPr lang="en-GB" sz="1200" dirty="0"/>
              <a:t>Revenue, transactions, and AOV impact at total level</a:t>
            </a:r>
          </a:p>
          <a:p>
            <a:pPr marL="0" indent="0">
              <a:buNone/>
            </a:pPr>
            <a:r>
              <a:rPr lang="en-GB" sz="1200" b="1" dirty="0"/>
              <a:t>4. Incrementality by Customer Value (Last Month View)</a:t>
            </a:r>
            <a:br>
              <a:rPr lang="en-GB" sz="1200" dirty="0"/>
            </a:br>
            <a:r>
              <a:rPr lang="en-GB" sz="1200" dirty="0"/>
              <a:t>High Value vs Low Value contribution and optimization levers</a:t>
            </a:r>
          </a:p>
          <a:p>
            <a:pPr marL="0" indent="0">
              <a:buNone/>
            </a:pPr>
            <a:r>
              <a:rPr lang="en-GB" sz="1200" b="1" dirty="0"/>
              <a:t>5. Lifecycle View: Active vs Non-Active Customers</a:t>
            </a:r>
            <a:br>
              <a:rPr lang="en-GB" sz="1200" dirty="0"/>
            </a:br>
            <a:r>
              <a:rPr lang="en-GB" sz="1200" dirty="0"/>
              <a:t>Where activation works and where performance degrades</a:t>
            </a:r>
          </a:p>
          <a:p>
            <a:pPr marL="0" indent="0">
              <a:buNone/>
            </a:pPr>
            <a:r>
              <a:rPr lang="en-GB" sz="1200" b="1" dirty="0"/>
              <a:t>5. RFM Deep Dive</a:t>
            </a:r>
            <a:br>
              <a:rPr lang="en-GB" sz="1200" dirty="0"/>
            </a:br>
            <a:r>
              <a:rPr lang="en-GB" sz="1200" dirty="0"/>
              <a:t>Segment-level concentration, risks, and prioritization logic</a:t>
            </a:r>
          </a:p>
          <a:p>
            <a:pPr marL="0" indent="0">
              <a:buNone/>
            </a:pPr>
            <a:r>
              <a:rPr lang="en-GB" sz="1200" b="1" dirty="0"/>
              <a:t>6. Implications &amp; Recommended Actions</a:t>
            </a:r>
            <a:br>
              <a:rPr lang="en-GB" sz="1200" dirty="0"/>
            </a:br>
            <a:r>
              <a:rPr lang="en-GB" sz="1200" dirty="0"/>
              <a:t>What to scale, what to fix, and what to stop</a:t>
            </a:r>
          </a:p>
          <a:p>
            <a:pPr marL="0" indent="0">
              <a:buNone/>
            </a:pPr>
            <a:r>
              <a:rPr lang="en-GB" sz="1200" b="1" dirty="0"/>
              <a:t>7. Limitations &amp; Validation Plan</a:t>
            </a:r>
            <a:br>
              <a:rPr lang="en-GB" sz="1200" dirty="0"/>
            </a:br>
            <a:r>
              <a:rPr lang="en-GB" sz="1200" dirty="0"/>
              <a:t>Key risks, sensitivity checks, and next analytical steps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84678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499DD-1BD3-48D5-3638-DE5ABE8B7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br>
              <a:rPr lang="en-US" sz="2500"/>
            </a:br>
            <a:r>
              <a:rPr lang="en-US" sz="2500"/>
              <a:t>1. Executive takeaway</a:t>
            </a:r>
            <a:br>
              <a:rPr lang="en-US" sz="2500"/>
            </a:br>
            <a:endParaRPr lang="en-US" sz="25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F1BBB-AF89-7388-65A5-1E46678AD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 lnSpcReduction="10000"/>
          </a:bodyPr>
          <a:lstStyle/>
          <a:p>
            <a:r>
              <a:rPr lang="en-GB" sz="2200" b="1" dirty="0"/>
              <a:t>CRM is driving positive incremental revenue, but value erosion and segment volatility require targeted optimization.</a:t>
            </a:r>
            <a:endParaRPr lang="en-GB" sz="2200" dirty="0"/>
          </a:p>
          <a:p>
            <a:r>
              <a:rPr lang="en-GB" sz="2200" dirty="0"/>
              <a:t>Incremental revenue: </a:t>
            </a:r>
            <a:r>
              <a:rPr lang="en-GB" sz="2200" b="1" dirty="0"/>
              <a:t>+59,936</a:t>
            </a:r>
            <a:endParaRPr lang="en-GB" sz="2200" dirty="0"/>
          </a:p>
          <a:p>
            <a:r>
              <a:rPr lang="en-GB" sz="2200" dirty="0"/>
              <a:t>Incremental transactions: </a:t>
            </a:r>
            <a:r>
              <a:rPr lang="en-GB" sz="2200" b="1" dirty="0"/>
              <a:t>+1,089</a:t>
            </a:r>
            <a:endParaRPr lang="en-GB" sz="2200" dirty="0"/>
          </a:p>
          <a:p>
            <a:r>
              <a:rPr lang="en-GB" sz="2200" dirty="0"/>
              <a:t>Average ΔAOV: </a:t>
            </a:r>
            <a:r>
              <a:rPr lang="en-GB" sz="2200" b="1" dirty="0"/>
              <a:t>−10.89</a:t>
            </a:r>
            <a:r>
              <a:rPr lang="en-GB" sz="2200" dirty="0"/>
              <a:t> → revenue growth is likely coming from </a:t>
            </a:r>
            <a:r>
              <a:rPr lang="en-GB" sz="2200" b="1" dirty="0"/>
              <a:t>frequency/activation</a:t>
            </a:r>
            <a:r>
              <a:rPr lang="en-GB" sz="2200" dirty="0"/>
              <a:t>, not basket size</a:t>
            </a:r>
          </a:p>
          <a:p>
            <a:r>
              <a:rPr lang="en-GB" sz="2200" dirty="0"/>
              <a:t>Top contributing segment: </a:t>
            </a:r>
            <a:r>
              <a:rPr lang="en-GB" sz="2200" b="1" dirty="0"/>
              <a:t>Lost</a:t>
            </a:r>
            <a:endParaRPr lang="en-GB" sz="2200" dirty="0"/>
          </a:p>
          <a:p>
            <a:r>
              <a:rPr lang="en-GB" sz="2200" b="1" dirty="0"/>
              <a:t>So what?</a:t>
            </a:r>
          </a:p>
          <a:p>
            <a:r>
              <a:rPr lang="en-GB" sz="2200" dirty="0"/>
              <a:t>Keep what’s working, but fix the value leak and reduce negative pockets via sharper targeting and contact pressure controls.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2622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5AFA89-77E4-D87A-7E94-CC83D3329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/>
              <a:t>2. Measurement Approach &amp; Guardrails</a:t>
            </a:r>
            <a:br>
              <a:rPr lang="en-US" sz="3700"/>
            </a:br>
            <a:r>
              <a:rPr lang="en-GB" sz="3700"/>
              <a:t>What we measured and why it’s decision-useful</a:t>
            </a:r>
            <a:endParaRPr lang="en-US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42125-2DD4-4008-CCB5-37468B056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GB" sz="2200" b="1" dirty="0"/>
              <a:t>We estimated directional incrementality using a transparent pre/post baseline where control groups are not available.</a:t>
            </a:r>
            <a:endParaRPr lang="en-GB" sz="2200" dirty="0"/>
          </a:p>
          <a:p>
            <a:r>
              <a:rPr lang="en-GB" sz="2200" dirty="0"/>
              <a:t>Core logic: </a:t>
            </a:r>
            <a:r>
              <a:rPr lang="en-GB" sz="2200" b="1" dirty="0"/>
              <a:t>(POST revenue/day − PRE revenue/day) × 7</a:t>
            </a:r>
            <a:endParaRPr lang="en-GB" sz="2200" dirty="0"/>
          </a:p>
          <a:p>
            <a:r>
              <a:rPr lang="en-GB" sz="2200" dirty="0"/>
              <a:t>Windows: </a:t>
            </a:r>
            <a:r>
              <a:rPr lang="en-GB" sz="2200" b="1" dirty="0"/>
              <a:t>PRE = 28 days</a:t>
            </a:r>
            <a:r>
              <a:rPr lang="en-GB" sz="2200" dirty="0"/>
              <a:t>, </a:t>
            </a:r>
            <a:r>
              <a:rPr lang="en-GB" sz="2200" b="1" dirty="0"/>
              <a:t>POST = 7 days</a:t>
            </a:r>
            <a:r>
              <a:rPr lang="en-GB" sz="2200" dirty="0"/>
              <a:t> from the anchor exposure date</a:t>
            </a:r>
          </a:p>
          <a:p>
            <a:r>
              <a:rPr lang="en-GB" sz="2200" dirty="0"/>
              <a:t>Outputs: incremental revenue, incremental transactions, ΔAOV, segment splits (Value, Active, RFM)</a:t>
            </a:r>
          </a:p>
          <a:p>
            <a:r>
              <a:rPr lang="en-GB" sz="2200" b="1" dirty="0"/>
              <a:t>So what?</a:t>
            </a:r>
          </a:p>
          <a:p>
            <a:r>
              <a:rPr lang="en-GB" sz="2200" dirty="0"/>
              <a:t>This is reliable enough to </a:t>
            </a:r>
            <a:r>
              <a:rPr lang="en-GB" sz="2200" b="1" dirty="0"/>
              <a:t>prioritize actions and tests</a:t>
            </a:r>
            <a:r>
              <a:rPr lang="en-GB" sz="2200" dirty="0"/>
              <a:t>, not to claim causal proof.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13283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9C0E8-749E-66B7-3EA2-46F76152D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/>
              <a:t>3. Overall CRM Incrementality Performance</a:t>
            </a:r>
            <a:br>
              <a:rPr lang="en-US" sz="3700"/>
            </a:br>
            <a:r>
              <a:rPr lang="en-US" sz="3700"/>
              <a:t>What changed overall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461F2-B839-05AF-70D8-A696D6A19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GB" sz="2200" b="1"/>
              <a:t>Revenue is up, but average order value fell—indicating a trade-off between activation and basket value.</a:t>
            </a:r>
            <a:endParaRPr lang="en-GB" sz="2200"/>
          </a:p>
          <a:p>
            <a:r>
              <a:rPr lang="en-GB" sz="2200" b="1"/>
              <a:t>+59,936</a:t>
            </a:r>
            <a:r>
              <a:rPr lang="en-GB" sz="2200"/>
              <a:t> incremental revenue and </a:t>
            </a:r>
            <a:r>
              <a:rPr lang="en-GB" sz="2200" b="1"/>
              <a:t>+1,089</a:t>
            </a:r>
            <a:r>
              <a:rPr lang="en-GB" sz="2200"/>
              <a:t> incremental transactions</a:t>
            </a:r>
          </a:p>
          <a:p>
            <a:r>
              <a:rPr lang="en-GB" sz="2200" b="1"/>
              <a:t>ΔAOV = −10.89</a:t>
            </a:r>
            <a:r>
              <a:rPr lang="en-GB" sz="2200"/>
              <a:t> suggests:</a:t>
            </a:r>
          </a:p>
          <a:p>
            <a:pPr lvl="1"/>
            <a:r>
              <a:rPr lang="en-GB" sz="2200"/>
              <a:t>more (or more frequent) purchases, but</a:t>
            </a:r>
          </a:p>
          <a:p>
            <a:pPr lvl="1"/>
            <a:r>
              <a:rPr lang="en-GB" sz="2200"/>
              <a:t>smaller baskets per transaction</a:t>
            </a:r>
          </a:p>
          <a:p>
            <a:r>
              <a:rPr lang="en-GB" sz="2200" b="1"/>
              <a:t>Implication:</a:t>
            </a:r>
            <a:r>
              <a:rPr lang="en-GB" sz="2200"/>
              <a:t> If we optimize only for transactions, we may be </a:t>
            </a:r>
            <a:r>
              <a:rPr lang="en-GB" sz="2200" b="1"/>
              <a:t>buying revenue at the expense of margin/value</a:t>
            </a:r>
            <a:r>
              <a:rPr lang="en-GB" sz="2200"/>
              <a:t>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531521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8955D8-EEBA-067A-6E56-8E84CB982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2500"/>
              <a:t>4. Incrementality by Customer Value (Last Month View)</a:t>
            </a:r>
            <a:br>
              <a:rPr lang="en-GB" sz="2500"/>
            </a:br>
            <a:r>
              <a:rPr lang="en-GB" sz="2500"/>
              <a:t>Where the lift comes from (Customer Value)</a:t>
            </a:r>
            <a:br>
              <a:rPr lang="en-GB" sz="2500" b="1"/>
            </a:br>
            <a:endParaRPr lang="en-US" sz="25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15AA7-45DB-302A-378B-9243EF198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GB" sz="1500" b="1" dirty="0"/>
              <a:t>Both High Value and Low Value customers contribute positively in the most recent month, supporting differentiated CRM playbooks.</a:t>
            </a:r>
            <a:endParaRPr lang="en-GB" sz="1500" dirty="0"/>
          </a:p>
          <a:p>
            <a:r>
              <a:rPr lang="en-GB" sz="1500" b="1" dirty="0"/>
              <a:t>Last month incremental revenue:</a:t>
            </a:r>
            <a:r>
              <a:rPr lang="en-GB" sz="1500" dirty="0"/>
              <a:t> </a:t>
            </a:r>
            <a:r>
              <a:rPr lang="en-GB" sz="1500" b="1" dirty="0"/>
              <a:t>+1,620</a:t>
            </a:r>
            <a:endParaRPr lang="en-GB" sz="1500" dirty="0"/>
          </a:p>
          <a:p>
            <a:pPr lvl="1"/>
            <a:r>
              <a:rPr lang="en-GB" sz="1500" b="1" dirty="0"/>
              <a:t>High Value:</a:t>
            </a:r>
            <a:r>
              <a:rPr lang="en-GB" sz="1500" dirty="0"/>
              <a:t> </a:t>
            </a:r>
            <a:r>
              <a:rPr lang="en-GB" sz="1500" b="1" dirty="0"/>
              <a:t>+974</a:t>
            </a:r>
            <a:r>
              <a:rPr lang="en-GB" sz="1500" dirty="0"/>
              <a:t> (positive)</a:t>
            </a:r>
          </a:p>
          <a:p>
            <a:pPr lvl="1"/>
            <a:r>
              <a:rPr lang="en-GB" sz="1500" b="1" dirty="0"/>
              <a:t>Low Value:</a:t>
            </a:r>
            <a:r>
              <a:rPr lang="en-GB" sz="1500" dirty="0"/>
              <a:t> </a:t>
            </a:r>
            <a:r>
              <a:rPr lang="en-GB" sz="1500" b="1" dirty="0"/>
              <a:t>+647</a:t>
            </a:r>
            <a:r>
              <a:rPr lang="en-GB" sz="1500" dirty="0"/>
              <a:t> (positive)</a:t>
            </a:r>
          </a:p>
          <a:p>
            <a:r>
              <a:rPr lang="en-GB" sz="1500" b="1" dirty="0"/>
              <a:t>So what?</a:t>
            </a:r>
            <a:endParaRPr lang="en-GB" sz="1500" dirty="0"/>
          </a:p>
          <a:p>
            <a:r>
              <a:rPr lang="en-GB" sz="1500" dirty="0"/>
              <a:t>High Value customers remain the primary value driver even in the short term.</a:t>
            </a:r>
          </a:p>
          <a:p>
            <a:r>
              <a:rPr lang="en-GB" sz="1500" dirty="0"/>
              <a:t>Low Value customers still contribute, but require tighter message simplicity and contact limits to avoid erosion.</a:t>
            </a:r>
          </a:p>
          <a:p>
            <a:r>
              <a:rPr lang="en-GB" sz="1500" b="1" dirty="0"/>
              <a:t>Action</a:t>
            </a:r>
            <a:endParaRPr lang="en-GB" sz="1500" dirty="0"/>
          </a:p>
          <a:p>
            <a:r>
              <a:rPr lang="en-GB" sz="1500" b="1" dirty="0"/>
              <a:t>High Value:</a:t>
            </a:r>
            <a:r>
              <a:rPr lang="en-GB" sz="1500" dirty="0"/>
              <a:t> prioritize retention and cross-sell while monitoring cannibalization.</a:t>
            </a:r>
          </a:p>
          <a:p>
            <a:r>
              <a:rPr lang="en-GB" sz="1500" b="1" dirty="0"/>
              <a:t>Low Value:</a:t>
            </a:r>
            <a:r>
              <a:rPr lang="en-GB" sz="1500" dirty="0"/>
              <a:t> simplify messaging and apply stricter contact pressure controls.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497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48468-7104-4B2A-A09A-581363E47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3400" b="1"/>
              <a:t> 5. Lifecycle View: Active vs Non-Active Customers</a:t>
            </a:r>
            <a:br>
              <a:rPr lang="en-GB" sz="3400" b="1"/>
            </a:br>
            <a:r>
              <a:rPr lang="en-US" sz="3400"/>
              <a:t>Lifecycle split (Active vs Non-Active)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5B97A-FFC8-99CE-C607-713235CBE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GB" sz="1700" b="1" dirty="0"/>
              <a:t>Non-Active customers drive the revenue lift, while Active customers show transaction headwinds—pointing to message/offer mismatch for Active.</a:t>
            </a:r>
            <a:endParaRPr lang="en-GB" sz="1700" dirty="0"/>
          </a:p>
          <a:p>
            <a:r>
              <a:rPr lang="en-GB" sz="1700" dirty="0"/>
              <a:t>Incremental revenue:</a:t>
            </a:r>
          </a:p>
          <a:p>
            <a:pPr lvl="1"/>
            <a:r>
              <a:rPr lang="en-GB" sz="1700" dirty="0"/>
              <a:t>Active: </a:t>
            </a:r>
            <a:r>
              <a:rPr lang="en-GB" sz="1700" b="1" dirty="0"/>
              <a:t>+431</a:t>
            </a:r>
            <a:endParaRPr lang="en-GB" sz="1700" dirty="0"/>
          </a:p>
          <a:p>
            <a:pPr lvl="1"/>
            <a:r>
              <a:rPr lang="en-GB" sz="1700" dirty="0"/>
              <a:t>Non-Active: </a:t>
            </a:r>
            <a:r>
              <a:rPr lang="en-GB" sz="1700" b="1" dirty="0"/>
              <a:t>+1,190</a:t>
            </a:r>
            <a:endParaRPr lang="en-GB" sz="1700" dirty="0"/>
          </a:p>
          <a:p>
            <a:r>
              <a:rPr lang="en-GB" sz="1700" dirty="0"/>
              <a:t>Incremental transactions:</a:t>
            </a:r>
          </a:p>
          <a:p>
            <a:pPr lvl="1"/>
            <a:r>
              <a:rPr lang="en-GB" sz="1700" dirty="0"/>
              <a:t>Active: </a:t>
            </a:r>
            <a:r>
              <a:rPr lang="en-GB" sz="1700" b="1" dirty="0"/>
              <a:t>−34</a:t>
            </a:r>
            <a:r>
              <a:rPr lang="en-GB" sz="1700" dirty="0"/>
              <a:t> (negative)</a:t>
            </a:r>
          </a:p>
          <a:p>
            <a:pPr lvl="1"/>
            <a:r>
              <a:rPr lang="en-GB" sz="1700" dirty="0"/>
              <a:t>Non-Active: </a:t>
            </a:r>
            <a:r>
              <a:rPr lang="en-GB" sz="1700" b="1" dirty="0"/>
              <a:t>+31</a:t>
            </a:r>
            <a:r>
              <a:rPr lang="en-GB" sz="1700" dirty="0"/>
              <a:t> (positive)</a:t>
            </a:r>
          </a:p>
          <a:p>
            <a:r>
              <a:rPr lang="en-GB" sz="1700" b="1" dirty="0"/>
              <a:t>So what?</a:t>
            </a:r>
            <a:endParaRPr lang="en-GB" sz="1700" dirty="0"/>
          </a:p>
          <a:p>
            <a:r>
              <a:rPr lang="en-GB" sz="1700" dirty="0"/>
              <a:t>Non-Active: reactivation mechanics are working—scale with guardrails</a:t>
            </a:r>
          </a:p>
          <a:p>
            <a:r>
              <a:rPr lang="en-GB" sz="1700" dirty="0"/>
              <a:t>Active: reduce friction and redesign offers to avoid depressing transactions while still preserving revenue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927872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E329D-1AA4-8CB4-6B3A-9DC68519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/>
              <a:t>6. RFM Deep Dive</a:t>
            </a:r>
            <a:br>
              <a:rPr lang="en-US" sz="3700"/>
            </a:br>
            <a:r>
              <a:rPr lang="en-GB" sz="3700"/>
              <a:t>RFM: performance is concentrated and unstable</a:t>
            </a:r>
            <a:endParaRPr lang="en-US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3D285-1BED-98AA-DD17-42A7D4BDA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GB" sz="2000" b="1"/>
              <a:t>“Lost” appears to dominate, but one segment is strongly negative—so we must rebalance pressure and mechanics.</a:t>
            </a:r>
            <a:endParaRPr lang="en-GB" sz="2000"/>
          </a:p>
          <a:p>
            <a:r>
              <a:rPr lang="en-GB" sz="2000"/>
              <a:t>Top RFM: </a:t>
            </a:r>
            <a:r>
              <a:rPr lang="en-GB" sz="2000" b="1"/>
              <a:t>Lost</a:t>
            </a:r>
            <a:r>
              <a:rPr lang="en-GB" sz="2000"/>
              <a:t> with </a:t>
            </a:r>
            <a:r>
              <a:rPr lang="en-GB" sz="2000" b="1"/>
              <a:t>+13,213</a:t>
            </a:r>
            <a:endParaRPr lang="en-GB" sz="2000"/>
          </a:p>
          <a:p>
            <a:r>
              <a:rPr lang="en-GB" sz="2000"/>
              <a:t>Weakest: </a:t>
            </a:r>
            <a:r>
              <a:rPr lang="en-GB" sz="2000" b="1"/>
              <a:t>Potential Loyalists</a:t>
            </a:r>
            <a:r>
              <a:rPr lang="en-GB" sz="2000"/>
              <a:t> with </a:t>
            </a:r>
            <a:r>
              <a:rPr lang="en-GB" sz="2000" b="1"/>
              <a:t>−9,480</a:t>
            </a:r>
            <a:endParaRPr lang="en-GB" sz="2000"/>
          </a:p>
          <a:p>
            <a:r>
              <a:rPr lang="en-GB" sz="2000" b="1"/>
              <a:t>Recommended actions</a:t>
            </a:r>
            <a:endParaRPr lang="en-GB" sz="2000"/>
          </a:p>
          <a:p>
            <a:r>
              <a:rPr lang="en-GB" sz="2000" b="1"/>
              <a:t>Scale Lost</a:t>
            </a:r>
            <a:r>
              <a:rPr lang="en-GB" sz="2000"/>
              <a:t> with best triggers/offers (reactivation playbook)</a:t>
            </a:r>
          </a:p>
          <a:p>
            <a:r>
              <a:rPr lang="en-GB" sz="2000" b="1"/>
              <a:t>Fix Potential Loyalists</a:t>
            </a:r>
            <a:r>
              <a:rPr lang="en-GB" sz="2000"/>
              <a:t>: reduce contact pressure; shift to “education → offer” sequence</a:t>
            </a:r>
          </a:p>
          <a:p>
            <a:r>
              <a:rPr lang="en-US" sz="2000"/>
              <a:t>Note: </a:t>
            </a:r>
            <a:r>
              <a:rPr lang="en-GB" sz="2000"/>
              <a:t>Top segment revenue can exceed the net total because other segments are negative in the same period; this reflects offsetting effects across segments.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16567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60AA9-E1FC-7EC6-7C11-DF3EC18D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/>
              <a:t>7. Implications &amp; Recommended Actions</a:t>
            </a:r>
            <a:br>
              <a:rPr lang="en-US" sz="3700"/>
            </a:br>
            <a:r>
              <a:rPr lang="en-GB" sz="3700"/>
              <a:t>What we will do next (resolution)</a:t>
            </a:r>
            <a:endParaRPr lang="en-US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58472-DC5F-366F-50AC-27AA29673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GB" sz="1700" b="1"/>
              <a:t>Move from directional insights to scaled impact through targeted experiments and governance.</a:t>
            </a:r>
            <a:endParaRPr lang="en-GB" sz="1700"/>
          </a:p>
          <a:p>
            <a:r>
              <a:rPr lang="en-GB" sz="1700" b="1"/>
              <a:t>30–60 day plan</a:t>
            </a:r>
            <a:endParaRPr lang="en-GB" sz="1700"/>
          </a:p>
          <a:p>
            <a:r>
              <a:rPr lang="en-GB" sz="1700" b="1"/>
              <a:t>Targeting &amp; frequency optimization</a:t>
            </a:r>
            <a:endParaRPr lang="en-GB" sz="1700"/>
          </a:p>
          <a:p>
            <a:pPr lvl="1"/>
            <a:r>
              <a:rPr lang="en-GB" sz="1700"/>
              <a:t>lower contact pressure in negative pockets</a:t>
            </a:r>
          </a:p>
          <a:p>
            <a:pPr lvl="1"/>
            <a:r>
              <a:rPr lang="en-GB" sz="1700"/>
              <a:t>segment-specific frequency caps (Active vs Non-Active; Low vs High value)</a:t>
            </a:r>
          </a:p>
          <a:p>
            <a:r>
              <a:rPr lang="en-GB" sz="1700" b="1"/>
              <a:t>Offer/message redesign</a:t>
            </a:r>
            <a:endParaRPr lang="en-GB" sz="1700"/>
          </a:p>
          <a:p>
            <a:pPr lvl="1"/>
            <a:r>
              <a:rPr lang="en-GB" sz="1700"/>
              <a:t>Active: rebuild to protect transactions</a:t>
            </a:r>
          </a:p>
          <a:p>
            <a:pPr lvl="1"/>
            <a:r>
              <a:rPr lang="en-GB" sz="1700"/>
              <a:t>Potential Loyalists: sequence change (education → offer)</a:t>
            </a:r>
          </a:p>
          <a:p>
            <a:r>
              <a:rPr lang="en-GB" sz="1700" b="1"/>
              <a:t>Robustness validation</a:t>
            </a:r>
            <a:endParaRPr lang="en-GB" sz="1700"/>
          </a:p>
          <a:p>
            <a:pPr lvl="1"/>
            <a:r>
              <a:rPr lang="en-GB" sz="1700"/>
              <a:t>sensitivity tests: PRE (14/28/56), POST (3/7/14)</a:t>
            </a:r>
          </a:p>
          <a:p>
            <a:pPr lvl="1"/>
            <a:r>
              <a:rPr lang="en-GB" sz="1700"/>
              <a:t>diagnostics: zero PRE/POST share, outlier review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4222881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E40823-96AB-0CFB-20DC-1B260A499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8. Limitations &amp; Validation Plan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5894A-2A2F-36B1-3ED2-855A6FC65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GB" sz="2200" b="1"/>
              <a:t>Treat results as directional; use them to prioritize tests, not as causal proof.</a:t>
            </a:r>
            <a:endParaRPr lang="en-GB" sz="2200"/>
          </a:p>
          <a:p>
            <a:r>
              <a:rPr lang="en-GB" sz="2200"/>
              <a:t>No randomized control group → not causal proof</a:t>
            </a:r>
          </a:p>
          <a:p>
            <a:r>
              <a:rPr lang="en-GB" sz="2200"/>
              <a:t>Seasonality and concurrent promotions can bias results</a:t>
            </a:r>
          </a:p>
          <a:p>
            <a:r>
              <a:rPr lang="en-GB" sz="2200"/>
              <a:t>Targeting bias may inflate lift</a:t>
            </a:r>
          </a:p>
          <a:p>
            <a:r>
              <a:rPr lang="en-GB" sz="2200"/>
              <a:t>Segment definitions (RFM) may shift over time</a:t>
            </a:r>
          </a:p>
          <a:p>
            <a:r>
              <a:rPr lang="en-GB" sz="2200" b="1"/>
              <a:t>So what:</a:t>
            </a:r>
            <a:r>
              <a:rPr lang="en-GB" sz="2200"/>
              <a:t> Decisions should be framed as </a:t>
            </a:r>
            <a:r>
              <a:rPr lang="en-GB" sz="2200" b="1"/>
              <a:t>“test-and-scale”</a:t>
            </a:r>
            <a:r>
              <a:rPr lang="en-GB" sz="2200"/>
              <a:t>, not “final truth.”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937239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904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Where CRM Creates Lift—and Where It Destroys Value</vt:lpstr>
      <vt:lpstr>Contents:</vt:lpstr>
      <vt:lpstr> 1. Executive takeaway </vt:lpstr>
      <vt:lpstr>2. Measurement Approach &amp; Guardrails What we measured and why it’s decision-useful</vt:lpstr>
      <vt:lpstr>3. Overall CRM Incrementality Performance What changed overall</vt:lpstr>
      <vt:lpstr>4. Incrementality by Customer Value (Last Month View) Where the lift comes from (Customer Value) </vt:lpstr>
      <vt:lpstr> 5. Lifecycle View: Active vs Non-Active Customers Lifecycle split (Active vs Non-Active)</vt:lpstr>
      <vt:lpstr>6. RFM Deep Dive RFM: performance is concentrated and unstable</vt:lpstr>
      <vt:lpstr>7. Implications &amp; Recommended Actions What we will do next (resolution)</vt:lpstr>
      <vt:lpstr>8. Limitations &amp; Validation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Boban Zivojinovic</dc:creator>
  <cp:lastModifiedBy>Boban Zivojinovic</cp:lastModifiedBy>
  <cp:revision>25</cp:revision>
  <dcterms:created xsi:type="dcterms:W3CDTF">2026-01-11T21:17:30Z</dcterms:created>
  <dcterms:modified xsi:type="dcterms:W3CDTF">2026-01-11T22:14:49Z</dcterms:modified>
</cp:coreProperties>
</file>